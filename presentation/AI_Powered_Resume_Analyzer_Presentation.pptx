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PRESENTER: SHIVANSH MISHRA | TIME: 30 SECONDS]</a:t>
            </a:r>
          </a:p>
          <a:p>
            <a:r>
              <a:t>'Good morning respected Dean Sir, faculty members, and fellow classmates.</a:t>
            </a:r>
          </a:p>
          <a:p>
            <a:r>
              <a:t>I am Shivansh Mishra, Team Leader and Principal Architect of this project.</a:t>
            </a:r>
          </a:p>
          <a:p>
            <a:r>
              <a:t>Along with my talented team members Harshvardhan, Vishal, and Sujeet, we are proud to present our final year capstone project:</a:t>
            </a:r>
          </a:p>
          <a:p>
            <a:r>
              <a:t>The AI-Powered Resume Analyzer — an enterprise-grade platform that solves one of the biggest bottlenecks in modern hiring: candidate rejection by rigid Applicant Tracking Systems.</a:t>
            </a:r>
          </a:p>
          <a:p>
            <a:r>
              <a:t>Over the next 12 minutes, we will walk you through how our system works, how we built it together as a team, and demonstrate our live production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PRESENTER: SHIVANSH MISHRA | TIME: 45 SECONDS]</a:t>
            </a:r>
          </a:p>
          <a:p>
            <a:r>
              <a:t>'Dean Sir, to give you the high-level summary in 30 seconds:</a:t>
            </a:r>
          </a:p>
          <a:p>
            <a:r>
              <a:t>The problem is that 75% of qualified job seekers get filtered out automatically because traditional ATS systems can only search for exact keywords, and candidates never know why.</a:t>
            </a:r>
          </a:p>
          <a:p>
            <a:r>
              <a:t>Our solution is a hybrid platform: we don't rely blindly on AI. We built a dual-engine system. If the candidate provides an AI key, we run multi-model semantic matching using Gemini, GPT-4o, or Claude. If no key is provided or the network fails, our deterministic engine evaluates the resume in under 5 milliseconds with zero downtime.</a:t>
            </a:r>
          </a:p>
          <a:p>
            <a:r>
              <a:t>Our outcome: 92 out of 92 passing automated tests, 100% user privacy with zero disk storage, and a live web application already deployed.'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PRESENTER: SHIVANSH MISHRA | TIME: 45 SECONDS]</a:t>
            </a:r>
          </a:p>
          <a:p>
            <a:r>
              <a:t>'Dean Sir, this project was not built in silos; it was executed with professional software engineering ownership:</a:t>
            </a:r>
          </a:p>
          <a:p>
            <a:r>
              <a:t>- I led the project and engineered the backend services, the multi-model AI routing, and the taxonomy graph.</a:t>
            </a:r>
          </a:p>
          <a:p>
            <a:r>
              <a:t>- Harshvardhan owned the frontend, building an ultra-fast React 19 interface with hardware-accelerated animations.</a:t>
            </a:r>
          </a:p>
          <a:p>
            <a:r>
              <a:t>- Vishal took full charge of Quality Assurance, creating our 92 automated tests and security audits.</a:t>
            </a:r>
          </a:p>
          <a:p>
            <a:r>
              <a:t>- Sujeet spearheaded the research documentation, benchmark analysis, and ethical AI auditing.</a:t>
            </a:r>
          </a:p>
          <a:p>
            <a:r>
              <a:t>Every team member has made substantial, verified contributions to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PRESENTER: SHIVANSH MISHRA | TIME: 50 SECONDS]</a:t>
            </a:r>
          </a:p>
          <a:p>
            <a:r>
              <a:t>'Dean Sir, why did we choose this problem?</a:t>
            </a:r>
          </a:p>
          <a:p>
            <a:r>
              <a:t>First, modern hiring is broken. Traditional ATS uses crude exact keyword matching. A student might write 'Container orchestration' or 'K8s', but the job description asks for 'Kubernetes'. A legacy system marks this as a 0% match.</a:t>
            </a:r>
          </a:p>
          <a:p>
            <a:r>
              <a:t>Second, students write passive bullet points like 'worked on website' instead of quantified impact like 'scaled website to 10,000 daily users'.</a:t>
            </a:r>
          </a:p>
          <a:p>
            <a:r>
              <a:t>Third, commercial tools store student data on cloud databases and crash whenever their AI quota runs out.</a:t>
            </a:r>
          </a:p>
          <a:p>
            <a:r>
              <a:t>We wanted to build an intelligent, private, and resilient platform that solves all three problems.'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PRESENTER: SHIVANSH MISHRA | TIME: 45 SECONDS]</a:t>
            </a:r>
          </a:p>
          <a:p>
            <a:r>
              <a:t>'Before writing a single line of code, our team established clear, measurable success criteria.</a:t>
            </a:r>
          </a:p>
          <a:p>
            <a:r>
              <a:t>We committed to zero disk storage to protect candidate privacy.</a:t>
            </a:r>
          </a:p>
          <a:p>
            <a:r>
              <a:t>We set a performance target of under 5 milliseconds for our rule-based engine and under 2 seconds for cloud AI.</a:t>
            </a:r>
          </a:p>
          <a:p>
            <a:r>
              <a:t>And for quality assurance, we required 100% test pass rate on every single commit.</a:t>
            </a:r>
          </a:p>
          <a:p>
            <a:r>
              <a:t>As shown on the right, every single benchmark was met or exceeded.'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PRESENTER: SHIVANSH MISHRA | TIME: 50 SECONDS]</a:t>
            </a:r>
          </a:p>
          <a:p>
            <a:r>
              <a:t>'Dean Sir, this diagram illustrates how our system processes a resume in 4 stages:</a:t>
            </a:r>
          </a:p>
          <a:p>
            <a:r>
              <a:t>Stage 1 is Ingestion: PyMuPDF parses the file directly from memory with geometric sorting.</a:t>
            </a:r>
          </a:p>
          <a:p>
            <a:r>
              <a:t>Stage 2 is Routing: We check for a multi-provider key. If valid, Gemini evaluates semantics; if absent or rate-limited, our rule engine takes over instantly.</a:t>
            </a:r>
          </a:p>
          <a:p>
            <a:r>
              <a:t>Stage 3 is Enrichment: We map skills into our 12-domain taxonomy graph, audit standard sections, count action verbs, and calculate metric quantification.</a:t>
            </a:r>
          </a:p>
          <a:p>
            <a:r>
              <a:t>Stage 4 is Presentation: The React frontend displays an interactive dashboard, and the backend generates a 2-page PDF with an immutable SHA-256 digital seal.'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PRESENTERS: SHIVANSH MISHRA &amp; HARSHVARDHAN SISODIYA | TIME: 60 SECONDS]</a:t>
            </a:r>
          </a:p>
          <a:p>
            <a:r>
              <a:t>SHIVANSH: 'On the backend, we selected FastAPI with Python 3.13 because of its native async performance and strict Pydantic schemas. For PDF parsing and report generation, we chose PyMuPDF because it operates entirely in RAM without needing LibreOffice or external heavy binaries.</a:t>
            </a:r>
          </a:p>
          <a:p>
            <a:r>
              <a:t>For AI, we implemented Bring-Your-Own-Key supporting Gemini, OpenAI, and Claude.</a:t>
            </a:r>
          </a:p>
          <a:p>
            <a:r>
              <a:t>Now I'll let Harshvardhan explain the frontend choices.'</a:t>
            </a:r>
          </a:p>
          <a:p>
            <a:r>
              <a:t>HARSHVARDHAN: 'For the frontend, we used React 19 bundled with Vite 6. This allows our production app to compile in just 340 milliseconds and deploy globally on Vercel's edge network. We avoided heavy animation libraries, using pure CSS and browser requestAnimationFrame for 60 to 120 FPS performance on all screens.'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PRESENTER: SHIVANSH MISHRA | TIME: 60 SECONDS]</a:t>
            </a:r>
          </a:p>
          <a:p>
            <a:r>
              <a:t>'Dean Sir, our backend is structured around 5 dedicated engines:</a:t>
            </a:r>
          </a:p>
          <a:p>
            <a:r>
              <a:t>1. The parser: handles file ingestion strictly in RAM.</a:t>
            </a:r>
          </a:p>
          <a:p>
            <a:r>
              <a:t>2. The taxonomy engine: organizes 440 skills across 12 domains.</a:t>
            </a:r>
          </a:p>
          <a:p>
            <a:r>
              <a:t>3. The ATS audit engine: analyzes section layout, action verbs, and quantified achievements.</a:t>
            </a:r>
          </a:p>
          <a:p>
            <a:r>
              <a:t>4. The exporter: creates our 2-page PDF dossiers.</a:t>
            </a:r>
          </a:p>
          <a:p>
            <a:r>
              <a:t>5. The interview generator: creates custom interview question kits.</a:t>
            </a:r>
          </a:p>
          <a:p>
            <a:r>
              <a:t>As you can see in the code snippet on the right, the endpoint takes the upload stream directly into memory and passes it to the analysis router with zero temporary files on disk.'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PRESENTER: SHIVANSH MISHRA | TIME: 50 SECONDS]</a:t>
            </a:r>
          </a:p>
          <a:p>
            <a:r>
              <a:t>'On the AI side, we solved two major industry problems:</a:t>
            </a:r>
          </a:p>
          <a:p>
            <a:r>
              <a:t>First, privacy and cost: By using a Bring-Your-Own-Key model, the university or user doesn't face high API hosting bills. The user brings their own key, and it stays only in their browser session.</a:t>
            </a:r>
          </a:p>
          <a:p>
            <a:r>
              <a:t>Second, reliability: What happens if OpenAI is down or Gemini reaches a rate limit? Most college projects crash. Our system catches any AI failure, logs a warning, and immediately runs our sub-5ms deterministic rule engine. The user never sees an error screen.'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PRESENTER: HARSHVARDHAN SISODIYA | TIME: 60 SECONDS]</a:t>
            </a:r>
          </a:p>
          <a:p>
            <a:r>
              <a:t>'Respected Dean Sir and teachers, I am Harshvardhan Sisodiya, Frontend Architect.</a:t>
            </a:r>
          </a:p>
          <a:p>
            <a:r>
              <a:t>Our goal on the frontend was to create an interface that looks like a world-class enterprise SaaS product, not a typical college assignment.</a:t>
            </a:r>
          </a:p>
          <a:p>
            <a:r>
              <a:t>Key features of my implementation:</a:t>
            </a:r>
          </a:p>
          <a:p>
            <a:r>
              <a:t>1. React 19 single-page architecture that builds in under 350ms.</a:t>
            </a:r>
          </a:p>
          <a:p>
            <a:r>
              <a:t>2. Nebula Aurora glassmorphism: modern dark mode with fluid CSS gradients and zero lag.</a:t>
            </a:r>
          </a:p>
          <a:p>
            <a:r>
              <a:t>3. A custom 180px SVG radial score gauge that animates smoothly at 60 to 120 FPS using browser requestAnimationFrame.</a:t>
            </a:r>
          </a:p>
          <a:p>
            <a:r>
              <a:t>4. Full mobile responsiveness: whether viewed on a phone, tablet, or 4K monitor, the bento grid reshapes automatically.</a:t>
            </a:r>
          </a:p>
          <a:p>
            <a:r>
              <a:t>5. And silent server warmup: as soon as you open the website, we ping Render in the background so the backend is warm and ready before you upload.'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PRESENTER: VISHAL PATEL | TIME: 55 SECONDS]</a:t>
            </a:r>
          </a:p>
          <a:p>
            <a:r>
              <a:t>'Respected Dean Sir, I am Vishal Patel, QA Lead and Security Specialist.</a:t>
            </a:r>
          </a:p>
          <a:p>
            <a:r>
              <a:t>My mission was to ensure this platform never breaks and never leaks candidate data.</a:t>
            </a:r>
          </a:p>
          <a:p>
            <a:r>
              <a:t>We built a hermetic automated test suite using pytest containing 92 test cases across 13 distinct modules.</a:t>
            </a:r>
          </a:p>
          <a:p>
            <a:r>
              <a:t>Every pull request is automatically verified:</a:t>
            </a:r>
          </a:p>
          <a:p>
            <a:r>
              <a:t>- We test AI failure handling, schema validation, and PDF binary output.</a:t>
            </a:r>
          </a:p>
          <a:p>
            <a:r>
              <a:t>- On security: we adhere to OWASP API guidelines. We test against prompt injection, malicious file types, and XSS attacks.</a:t>
            </a:r>
          </a:p>
          <a:p>
            <a:r>
              <a:t>- Everything runs in RAM; no files are saved to disk.</a:t>
            </a:r>
          </a:p>
          <a:p>
            <a:r>
              <a:t>As of today, all 92 tests pass with 100% success.'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PRESENTER: SUJEET KANNAUJIYA | TIME: 50 SECONDS]</a:t>
            </a:r>
          </a:p>
          <a:p>
            <a:r>
              <a:t>'Respected Dean Sir and faculty, I am Sujeet Kannaujiya, Research and Documentation Lead.</a:t>
            </a:r>
          </a:p>
          <a:p>
            <a:r>
              <a:t>For an engineering project to be successful, its documentation must be as rigorous as its code.</a:t>
            </a:r>
          </a:p>
          <a:p>
            <a:r>
              <a:t>I authored 10 comprehensive technical specifications:</a:t>
            </a:r>
          </a:p>
          <a:p>
            <a:r>
              <a:t>- An API Reference with full request/response schemas.</a:t>
            </a:r>
          </a:p>
          <a:p>
            <a:r>
              <a:t>- An Ethical AI and Bias Audit, ensuring our prompts strip candidate PII like gender and age to prevent algorithmic discrimination.</a:t>
            </a:r>
          </a:p>
          <a:p>
            <a:r>
              <a:t>- An LLM Benchmark Study comparing Gemini, GPT-4o, and Claude across latency, token costs, and accuracy.</a:t>
            </a:r>
          </a:p>
          <a:p>
            <a:r>
              <a:t>- And our Capstone Project Dossier documenting our team's academic journey.</a:t>
            </a:r>
          </a:p>
          <a:p>
            <a:r>
              <a:t>Anyone can clone our repository and run the full application in under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PRESENTER: SHIVANSH MISHRA &amp; TEAM | TIME: 2-3 MINUTES]</a:t>
            </a:r>
          </a:p>
          <a:p>
            <a:r>
              <a:t>'Now, Dean Sir, we would like to show you the live product running in real-time.</a:t>
            </a:r>
          </a:p>
          <a:p>
            <a:r>
              <a:t>[Shivansh opens https://ai-powered-resume-analyzer-pi.vercel.app]</a:t>
            </a:r>
          </a:p>
          <a:p>
            <a:r>
              <a:t>Notice how fast the page loads.</a:t>
            </a:r>
          </a:p>
          <a:p>
            <a:r>
              <a:t>Harshvardhan, please drag and drop our sample AI Engineer resume.</a:t>
            </a:r>
          </a:p>
          <a:p>
            <a:r>
              <a:t>Now we click Analyze.</a:t>
            </a:r>
          </a:p>
          <a:p>
            <a:r>
              <a:t>Watch the animated 180px gauge — in less than one second, the score appears!</a:t>
            </a:r>
          </a:p>
          <a:p>
            <a:r>
              <a:t>Notice the breakdown:</a:t>
            </a:r>
          </a:p>
          <a:p>
            <a:r>
              <a:t>- On the left: verified matched skills in emerald chips, and missing skills in red.</a:t>
            </a:r>
          </a:p>
          <a:p>
            <a:r>
              <a:t>- In the center: our deep ATS audit showing section health and action verbs.</a:t>
            </a:r>
          </a:p>
          <a:p>
            <a:r>
              <a:t>- At the bottom: our custom interview prep kit.</a:t>
            </a:r>
          </a:p>
          <a:p>
            <a:r>
              <a:t>Now we click Export PDF Report — within one second, a clean, 2-page white executive audit report downloads directly with our cryptographic SHA-256 seal.'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PRESENTERS: SHIVANSH MISHRA &amp; VISHAL PATEL | TIME: 45 SECONDS]</a:t>
            </a:r>
          </a:p>
          <a:p>
            <a:r>
              <a:t>SHIVANSH: 'Dean Sir, these are our verified engineering numbers:</a:t>
            </a:r>
          </a:p>
          <a:p>
            <a:r>
              <a:t>- 92 out of 92 automated tests passing.</a:t>
            </a:r>
          </a:p>
          <a:p>
            <a:r>
              <a:t>- Under 5 millisecond latency on our local rule engine.</a:t>
            </a:r>
          </a:p>
          <a:p>
            <a:r>
              <a:t>- 780 milliseconds on our cloud AI engine.</a:t>
            </a:r>
          </a:p>
          <a:p>
            <a:r>
              <a:t>- 440 canonical skills cataloged across 12 tech domains.</a:t>
            </a:r>
          </a:p>
          <a:p>
            <a:r>
              <a:t>- 150 action verbs tracked.</a:t>
            </a:r>
          </a:p>
          <a:p>
            <a:r>
              <a:t>- And zero monthly hosting costs. We deployed a production-grade system with zero infrastructure budget.'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PRESENTERS: ALL 4 MEMBERS | TIME: 60 SECONDS]</a:t>
            </a:r>
          </a:p>
          <a:p>
            <a:r>
              <a:t>SHIVANSH: 'We faced real engineering challenges. For backend, handling LLM schema changes taught us to never trust raw AI outputs without strict Pydantic validation.'</a:t>
            </a:r>
          </a:p>
          <a:p>
            <a:r>
              <a:t>HARSHVARDHAN: 'On frontend, optimizing animations taught me how GPU compositing and requestAnimationFrame prevent UI lag.'</a:t>
            </a:r>
          </a:p>
          <a:p>
            <a:r>
              <a:t>VISHAL: 'For QA, mocking cloud AI APIs taught me how to keep test suites hermetic, fast, and 100% reliable.'</a:t>
            </a:r>
          </a:p>
          <a:p>
            <a:r>
              <a:t>SUJEET: 'And on research, auditing AI bias taught me that ethical AI must be designed into the prompt architecture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PRESENTER: SHIVANSH MISHRA | TIME: 45 SECONDS]</a:t>
            </a:r>
          </a:p>
          <a:p>
            <a:r>
              <a:t>'Looking forward, this project has immense real-world commercial potential.</a:t>
            </a:r>
          </a:p>
          <a:p>
            <a:r>
              <a:t>In Phase 2, we plan to add:</a:t>
            </a:r>
          </a:p>
          <a:p>
            <a:r>
              <a:t>1. A Recruiter Portal allowing companies to upload 500 resumes at once and rank them instantly.</a:t>
            </a:r>
          </a:p>
          <a:p>
            <a:r>
              <a:t>2. An interactive Voice Mock Interviewer where candidates can practice answering the generated interview questions verbally.</a:t>
            </a:r>
          </a:p>
          <a:p>
            <a:r>
              <a:t>3. Direct plugins for enterprise ATS systems like Workday and Greenhouse.'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PRESENTERS: TEAM AS NEEDED | BACKUP SLIDE FOR Q&amp;A]</a:t>
            </a:r>
          </a:p>
          <a:p>
            <a:r>
              <a:t>'This slide is reserved for deep technical questions from Dean Sir or examiners regarding our API specifications or cryptographic SHA-256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PRESENTER: SHIVANSH MISHRA | TIME: REMAINING TIME FOR Q&amp;A]</a:t>
            </a:r>
          </a:p>
          <a:p>
            <a:r>
              <a:t>'Respected Dean Sir and faculty members, thank you very much for your valuable time and mentorship throughout this capstone project.</a:t>
            </a:r>
          </a:p>
          <a:p>
            <a:r>
              <a:t>Our entire team is now ready to answer any questions you have about our backend architecture, frontend implementation, testing strategy, or research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728655" cy="5760720"/>
          </a:xfrm>
          <a:prstGeom prst="roundRect">
            <a:avLst/>
          </a:prstGeom>
          <a:solidFill>
            <a:srgbClr val="151C2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822960"/>
            <a:ext cx="9966960" cy="2011680"/>
          </a:xfrm>
          <a:prstGeom prst="rect">
            <a:avLst/>
          </a:prstGeom>
          <a:noFill/>
        </p:spPr>
        <p:txBody>
          <a:bodyPr wrap="square">
            <a:spAutoFit/>
          </a:bodyPr>
          <a:lstStyle/>
          <a:p>
            <a:pPr algn="ctr">
              <a:defRPr sz="1300" b="1">
                <a:solidFill>
                  <a:srgbClr val="38BDF8"/>
                </a:solidFill>
              </a:defRPr>
            </a:pPr>
            <a:r>
              <a:t>BABU BANARASI DAS UNIVERSITY, LUCKNOW</a:t>
            </a:r>
          </a:p>
          <a:p>
            <a:pPr algn="ctr">
              <a:defRPr sz="1100">
                <a:solidFill>
                  <a:srgbClr val="94A3B8"/>
                </a:solidFill>
              </a:defRPr>
            </a:pPr>
            <a:r>
              <a:t>Department of Computer Science &amp; Engineering  •  Academic Capstone 2026</a:t>
            </a:r>
          </a:p>
          <a:p>
            <a:pPr algn="ctr">
              <a:defRPr sz="3200" b="1">
                <a:solidFill>
                  <a:srgbClr val="FFFFFF"/>
                </a:solidFill>
              </a:defRPr>
            </a:pPr>
            <a:r>
              <a:t>🚀 AI-Powered Resume Analyzer</a:t>
            </a:r>
          </a:p>
          <a:p>
            <a:pPr algn="ctr">
              <a:defRPr sz="1500" b="1">
                <a:solidFill>
                  <a:srgbClr val="38BDF8"/>
                </a:solidFill>
              </a:defRPr>
            </a:pPr>
            <a:r>
              <a:t>Hybrid Multi-Model Career Intelligence Platform &amp; Deep ATS Heuristic Engine</a:t>
            </a:r>
          </a:p>
        </p:txBody>
      </p:sp>
      <p:sp>
        <p:nvSpPr>
          <p:cNvPr id="5" name="Rounded Rectangle 4"/>
          <p:cNvSpPr/>
          <p:nvPr/>
        </p:nvSpPr>
        <p:spPr>
          <a:xfrm>
            <a:off x="1097280" y="3108960"/>
            <a:ext cx="2377440" cy="2560320"/>
          </a:xfrm>
          <a:prstGeom prst="roundRect">
            <a:avLst/>
          </a:prstGeom>
          <a:solidFill>
            <a:srgbClr val="0B0F19"/>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hivansh_circle.png"/>
          <p:cNvPicPr>
            <a:picLocks noChangeAspect="1"/>
          </p:cNvPicPr>
          <p:nvPr/>
        </p:nvPicPr>
        <p:blipFill>
          <a:blip r:embed="rId2"/>
          <a:stretch>
            <a:fillRect/>
          </a:stretch>
        </p:blipFill>
        <p:spPr>
          <a:xfrm>
            <a:off x="1828800" y="3291840"/>
            <a:ext cx="914400" cy="914400"/>
          </a:xfrm>
          <a:prstGeom prst="rect">
            <a:avLst/>
          </a:prstGeom>
        </p:spPr>
      </p:pic>
      <p:sp>
        <p:nvSpPr>
          <p:cNvPr id="7" name="TextBox 6"/>
          <p:cNvSpPr txBox="1"/>
          <p:nvPr/>
        </p:nvSpPr>
        <p:spPr>
          <a:xfrm>
            <a:off x="1188720" y="4251960"/>
            <a:ext cx="2194560" cy="1280160"/>
          </a:xfrm>
          <a:prstGeom prst="rect">
            <a:avLst/>
          </a:prstGeom>
          <a:noFill/>
        </p:spPr>
        <p:txBody>
          <a:bodyPr wrap="square" lIns="0" rIns="0" tIns="0" bIns="0">
            <a:spAutoFit/>
          </a:bodyPr>
          <a:lstStyle/>
          <a:p>
            <a:pPr algn="ctr">
              <a:defRPr b="1" sz="1300">
                <a:solidFill>
                  <a:srgbClr val="FFFFFF"/>
                </a:solidFill>
              </a:defRPr>
            </a:pPr>
            <a:r>
              <a:t>Shivansh Mishra</a:t>
            </a:r>
          </a:p>
          <a:p>
            <a:pPr algn="ctr">
              <a:defRPr b="1" sz="950">
                <a:solidFill>
                  <a:srgbClr val="38BDF8"/>
                </a:solidFill>
              </a:defRPr>
            </a:pPr>
            <a:r>
              <a:t>Team Leader &amp; Principal Architect</a:t>
            </a:r>
          </a:p>
          <a:p>
            <a:pPr algn="ctr">
              <a:defRPr sz="850">
                <a:solidFill>
                  <a:srgbClr val="94A3B8"/>
                </a:solidFill>
              </a:defRPr>
            </a:pPr>
            <a:r>
              <a:t>Backend, Multi-Model AI &amp; System Design</a:t>
            </a:r>
          </a:p>
        </p:txBody>
      </p:sp>
      <p:sp>
        <p:nvSpPr>
          <p:cNvPr id="8" name="Rounded Rectangle 7"/>
          <p:cNvSpPr/>
          <p:nvPr/>
        </p:nvSpPr>
        <p:spPr>
          <a:xfrm>
            <a:off x="3694176" y="3108960"/>
            <a:ext cx="2377440" cy="2560320"/>
          </a:xfrm>
          <a:prstGeom prst="roundRect">
            <a:avLst/>
          </a:prstGeom>
          <a:solidFill>
            <a:srgbClr val="0B0F19"/>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arshvardhan_circle.png"/>
          <p:cNvPicPr>
            <a:picLocks noChangeAspect="1"/>
          </p:cNvPicPr>
          <p:nvPr/>
        </p:nvPicPr>
        <p:blipFill>
          <a:blip r:embed="rId3"/>
          <a:stretch>
            <a:fillRect/>
          </a:stretch>
        </p:blipFill>
        <p:spPr>
          <a:xfrm>
            <a:off x="4425696" y="3291840"/>
            <a:ext cx="914400" cy="914400"/>
          </a:xfrm>
          <a:prstGeom prst="rect">
            <a:avLst/>
          </a:prstGeom>
        </p:spPr>
      </p:pic>
      <p:sp>
        <p:nvSpPr>
          <p:cNvPr id="10" name="TextBox 9"/>
          <p:cNvSpPr txBox="1"/>
          <p:nvPr/>
        </p:nvSpPr>
        <p:spPr>
          <a:xfrm>
            <a:off x="3785616" y="4251960"/>
            <a:ext cx="2194560" cy="1280160"/>
          </a:xfrm>
          <a:prstGeom prst="rect">
            <a:avLst/>
          </a:prstGeom>
          <a:noFill/>
        </p:spPr>
        <p:txBody>
          <a:bodyPr wrap="square" lIns="0" rIns="0" tIns="0" bIns="0">
            <a:spAutoFit/>
          </a:bodyPr>
          <a:lstStyle/>
          <a:p>
            <a:pPr algn="ctr">
              <a:defRPr b="1" sz="1300">
                <a:solidFill>
                  <a:srgbClr val="FFFFFF"/>
                </a:solidFill>
              </a:defRPr>
            </a:pPr>
            <a:r>
              <a:t>Harshvardhan Sisodiya</a:t>
            </a:r>
          </a:p>
          <a:p>
            <a:pPr algn="ctr">
              <a:defRPr b="1" sz="950">
                <a:solidFill>
                  <a:srgbClr val="A855F7"/>
                </a:solidFill>
              </a:defRPr>
            </a:pPr>
            <a:r>
              <a:t>Frontend Architect &amp; UI/UX Lead</a:t>
            </a:r>
          </a:p>
          <a:p>
            <a:pPr algn="ctr">
              <a:defRPr sz="850">
                <a:solidFill>
                  <a:srgbClr val="94A3B8"/>
                </a:solidFill>
              </a:defRPr>
            </a:pPr>
            <a:r>
              <a:t>React 19, Nebula Aurora Glassmorphism &amp; UX</a:t>
            </a:r>
          </a:p>
        </p:txBody>
      </p:sp>
      <p:sp>
        <p:nvSpPr>
          <p:cNvPr id="11" name="Rounded Rectangle 10"/>
          <p:cNvSpPr/>
          <p:nvPr/>
        </p:nvSpPr>
        <p:spPr>
          <a:xfrm>
            <a:off x="6291072" y="3108960"/>
            <a:ext cx="2377440" cy="2560320"/>
          </a:xfrm>
          <a:prstGeom prst="roundRect">
            <a:avLst/>
          </a:prstGeom>
          <a:solidFill>
            <a:srgbClr val="0B0F1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ishal_circle.png"/>
          <p:cNvPicPr>
            <a:picLocks noChangeAspect="1"/>
          </p:cNvPicPr>
          <p:nvPr/>
        </p:nvPicPr>
        <p:blipFill>
          <a:blip r:embed="rId4"/>
          <a:stretch>
            <a:fillRect/>
          </a:stretch>
        </p:blipFill>
        <p:spPr>
          <a:xfrm>
            <a:off x="7022592" y="3291840"/>
            <a:ext cx="914400" cy="914400"/>
          </a:xfrm>
          <a:prstGeom prst="rect">
            <a:avLst/>
          </a:prstGeom>
        </p:spPr>
      </p:pic>
      <p:sp>
        <p:nvSpPr>
          <p:cNvPr id="13" name="TextBox 12"/>
          <p:cNvSpPr txBox="1"/>
          <p:nvPr/>
        </p:nvSpPr>
        <p:spPr>
          <a:xfrm>
            <a:off x="6382512" y="4251960"/>
            <a:ext cx="2194560" cy="1280160"/>
          </a:xfrm>
          <a:prstGeom prst="rect">
            <a:avLst/>
          </a:prstGeom>
          <a:noFill/>
        </p:spPr>
        <p:txBody>
          <a:bodyPr wrap="square" lIns="0" rIns="0" tIns="0" bIns="0">
            <a:spAutoFit/>
          </a:bodyPr>
          <a:lstStyle/>
          <a:p>
            <a:pPr algn="ctr">
              <a:defRPr b="1" sz="1300">
                <a:solidFill>
                  <a:srgbClr val="FFFFFF"/>
                </a:solidFill>
              </a:defRPr>
            </a:pPr>
            <a:r>
              <a:t>Vishal Patel</a:t>
            </a:r>
          </a:p>
          <a:p>
            <a:pPr algn="ctr">
              <a:defRPr b="1" sz="950">
                <a:solidFill>
                  <a:srgbClr val="10B981"/>
                </a:solidFill>
              </a:defRPr>
            </a:pPr>
            <a:r>
              <a:t>QA Lead &amp; Security Specialist</a:t>
            </a:r>
          </a:p>
          <a:p>
            <a:pPr algn="ctr">
              <a:defRPr sz="850">
                <a:solidFill>
                  <a:srgbClr val="94A3B8"/>
                </a:solidFill>
              </a:defRPr>
            </a:pPr>
            <a:r>
              <a:t>92 Automated Tests, Benchmarks &amp; Hardening</a:t>
            </a:r>
          </a:p>
        </p:txBody>
      </p:sp>
      <p:sp>
        <p:nvSpPr>
          <p:cNvPr id="14" name="Rounded Rectangle 13"/>
          <p:cNvSpPr/>
          <p:nvPr/>
        </p:nvSpPr>
        <p:spPr>
          <a:xfrm>
            <a:off x="8887968" y="3108960"/>
            <a:ext cx="2377440" cy="2560320"/>
          </a:xfrm>
          <a:prstGeom prst="roundRect">
            <a:avLst/>
          </a:prstGeom>
          <a:solidFill>
            <a:srgbClr val="0B0F1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ujeet_circle.png"/>
          <p:cNvPicPr>
            <a:picLocks noChangeAspect="1"/>
          </p:cNvPicPr>
          <p:nvPr/>
        </p:nvPicPr>
        <p:blipFill>
          <a:blip r:embed="rId5"/>
          <a:stretch>
            <a:fillRect/>
          </a:stretch>
        </p:blipFill>
        <p:spPr>
          <a:xfrm>
            <a:off x="9619488" y="3291840"/>
            <a:ext cx="914400" cy="914400"/>
          </a:xfrm>
          <a:prstGeom prst="rect">
            <a:avLst/>
          </a:prstGeom>
        </p:spPr>
      </p:pic>
      <p:sp>
        <p:nvSpPr>
          <p:cNvPr id="16" name="TextBox 15"/>
          <p:cNvSpPr txBox="1"/>
          <p:nvPr/>
        </p:nvSpPr>
        <p:spPr>
          <a:xfrm>
            <a:off x="8979408" y="4251960"/>
            <a:ext cx="2194560" cy="1280160"/>
          </a:xfrm>
          <a:prstGeom prst="rect">
            <a:avLst/>
          </a:prstGeom>
          <a:noFill/>
        </p:spPr>
        <p:txBody>
          <a:bodyPr wrap="square" lIns="0" rIns="0" tIns="0" bIns="0">
            <a:spAutoFit/>
          </a:bodyPr>
          <a:lstStyle/>
          <a:p>
            <a:pPr algn="ctr">
              <a:defRPr b="1" sz="1300">
                <a:solidFill>
                  <a:srgbClr val="FFFFFF"/>
                </a:solidFill>
              </a:defRPr>
            </a:pPr>
            <a:r>
              <a:t>Sujeet Kannaujiya</a:t>
            </a:r>
          </a:p>
          <a:p>
            <a:pPr algn="ctr">
              <a:defRPr b="1" sz="950">
                <a:solidFill>
                  <a:srgbClr val="F59E0B"/>
                </a:solidFill>
              </a:defRPr>
            </a:pPr>
            <a:r>
              <a:t>Research Lead &amp; Documentation</a:t>
            </a:r>
          </a:p>
          <a:p>
            <a:pPr algn="ctr">
              <a:defRPr sz="850">
                <a:solidFill>
                  <a:srgbClr val="94A3B8"/>
                </a:solidFill>
              </a:defRPr>
            </a:pPr>
            <a:r>
              <a:t>Research Dossier, ATS Specs &amp; Presentation</a:t>
            </a:r>
          </a:p>
        </p:txBody>
      </p:sp>
      <p:sp>
        <p:nvSpPr>
          <p:cNvPr id="17" name="TextBox 16"/>
          <p:cNvSpPr txBox="1"/>
          <p:nvPr/>
        </p:nvSpPr>
        <p:spPr>
          <a:xfrm>
            <a:off x="1097280" y="5760720"/>
            <a:ext cx="9966960" cy="365760"/>
          </a:xfrm>
          <a:prstGeom prst="rect">
            <a:avLst/>
          </a:prstGeom>
          <a:noFill/>
        </p:spPr>
        <p:txBody>
          <a:bodyPr wrap="none">
            <a:spAutoFit/>
          </a:bodyPr>
          <a:lstStyle/>
          <a:p>
            <a:pPr algn="ctr">
              <a:defRPr sz="1000">
                <a:solidFill>
                  <a:srgbClr val="38BDF8"/>
                </a:solidFill>
              </a:defRPr>
            </a:pPr>
            <a:r>
              <a:t>🌐 Live Production Application: https://ai-powered-resume-analyzer-pi.vercel.app  •  ⚡ API: https://resume-analyzer-api.onrender.com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PROJECT AT A GLANCE (TL;DR)</a:t>
            </a:r>
          </a:p>
          <a:p>
            <a:pPr>
              <a:defRPr sz="1200">
                <a:solidFill>
                  <a:srgbClr val="38BDF8"/>
                </a:solidFill>
                <a:latin typeface="Calibri"/>
              </a:defRPr>
            </a:pPr>
            <a:r>
              <a:t>The Core Problem, Our Innovation, and Measurable Outcomes in 30 Seconds</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2 of 18</a:t>
            </a:r>
          </a:p>
        </p:txBody>
      </p:sp>
      <p:sp>
        <p:nvSpPr>
          <p:cNvPr id="8" name="Rounded Rectangle 7"/>
          <p:cNvSpPr/>
          <p:nvPr/>
        </p:nvSpPr>
        <p:spPr>
          <a:xfrm>
            <a:off x="548640" y="1280160"/>
            <a:ext cx="3474720" cy="4937760"/>
          </a:xfrm>
          <a:prstGeom prst="roundRect">
            <a:avLst/>
          </a:prstGeom>
          <a:solidFill>
            <a:srgbClr val="151C2C"/>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THE CRITICAL PROBLEM</a:t>
            </a:r>
          </a:p>
        </p:txBody>
      </p:sp>
      <p:sp>
        <p:nvSpPr>
          <p:cNvPr id="10" name="TextBox 9"/>
          <p:cNvSpPr txBox="1"/>
          <p:nvPr/>
        </p:nvSpPr>
        <p:spPr>
          <a:xfrm>
            <a:off x="731520" y="1828800"/>
            <a:ext cx="3108960" cy="4206240"/>
          </a:xfrm>
          <a:prstGeom prst="rect">
            <a:avLst/>
          </a:prstGeom>
          <a:noFill/>
        </p:spPr>
        <p:txBody>
          <a:bodyPr wrap="square" lIns="0" tIns="0" rIns="0" bIns="0">
            <a:spAutoFit/>
          </a:bodyPr>
          <a:lstStyle/>
          <a:p/>
          <a:p>
            <a:pPr>
              <a:spcAft>
                <a:spcPts val="1200"/>
              </a:spcAft>
              <a:defRPr sz="1200">
                <a:solidFill>
                  <a:srgbClr val="E2E8F0"/>
                </a:solidFill>
              </a:defRPr>
            </a:pPr>
            <a:r>
              <a:t>• 75% of qualified resumes are rejected before any human recruiter reads them.</a:t>
            </a:r>
          </a:p>
          <a:p>
            <a:pPr>
              <a:spcAft>
                <a:spcPts val="1200"/>
              </a:spcAft>
              <a:defRPr sz="1200">
                <a:solidFill>
                  <a:srgbClr val="E2E8F0"/>
                </a:solidFill>
              </a:defRPr>
            </a:pPr>
            <a:r>
              <a:t>• Legacy ATS algorithms rely on rigid, exact keyword matching (e.g., 'K8s' vs 'Kubernetes').</a:t>
            </a:r>
          </a:p>
          <a:p>
            <a:pPr>
              <a:spcAft>
                <a:spcPts val="1200"/>
              </a:spcAft>
              <a:defRPr sz="1200">
                <a:solidFill>
                  <a:srgbClr val="E2E8F0"/>
                </a:solidFill>
              </a:defRPr>
            </a:pPr>
            <a:r>
              <a:t>• Candidates receive zero feedback on why they were rejected or what skills they missed.</a:t>
            </a:r>
          </a:p>
          <a:p>
            <a:pPr>
              <a:spcAft>
                <a:spcPts val="1200"/>
              </a:spcAft>
              <a:defRPr sz="1200">
                <a:solidFill>
                  <a:srgbClr val="E2E8F0"/>
                </a:solidFill>
              </a:defRPr>
            </a:pPr>
            <a:r>
              <a:t>• Pure cloud AI solutions are expensive, hit rate limits, and suffer from downtime.</a:t>
            </a:r>
          </a:p>
        </p:txBody>
      </p:sp>
      <p:sp>
        <p:nvSpPr>
          <p:cNvPr id="11" name="Rounded Rectangle 10"/>
          <p:cNvSpPr/>
          <p:nvPr/>
        </p:nvSpPr>
        <p:spPr>
          <a:xfrm>
            <a:off x="4297680" y="1280160"/>
            <a:ext cx="34747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OUR HYBRID SOLUTION</a:t>
            </a:r>
          </a:p>
        </p:txBody>
      </p:sp>
      <p:sp>
        <p:nvSpPr>
          <p:cNvPr id="13" name="TextBox 12"/>
          <p:cNvSpPr txBox="1"/>
          <p:nvPr/>
        </p:nvSpPr>
        <p:spPr>
          <a:xfrm>
            <a:off x="4480560" y="1828800"/>
            <a:ext cx="3108960" cy="4206240"/>
          </a:xfrm>
          <a:prstGeom prst="rect">
            <a:avLst/>
          </a:prstGeom>
          <a:noFill/>
        </p:spPr>
        <p:txBody>
          <a:bodyPr wrap="square" lIns="0" tIns="0" rIns="0" bIns="0">
            <a:spAutoFit/>
          </a:bodyPr>
          <a:lstStyle/>
          <a:p/>
          <a:p>
            <a:pPr>
              <a:spcAft>
                <a:spcPts val="1200"/>
              </a:spcAft>
              <a:defRPr sz="1200">
                <a:solidFill>
                  <a:srgbClr val="E2E8F0"/>
                </a:solidFill>
              </a:defRPr>
            </a:pPr>
            <a:r>
              <a:t>• Dual-Engine Architecture: Multi-Model AI (Gemini, GPT-4o, Claude) + sub-5ms rule fallback.</a:t>
            </a:r>
          </a:p>
          <a:p>
            <a:pPr>
              <a:spcAft>
                <a:spcPts val="1200"/>
              </a:spcAft>
              <a:defRPr sz="1200">
                <a:solidFill>
                  <a:srgbClr val="E2E8F0"/>
                </a:solidFill>
              </a:defRPr>
            </a:pPr>
            <a:r>
              <a:t>• Proprietary 440+ Skills Taxonomy Graph with smart alias and synonym resolution.</a:t>
            </a:r>
          </a:p>
          <a:p>
            <a:pPr>
              <a:spcAft>
                <a:spcPts val="1200"/>
              </a:spcAft>
              <a:defRPr sz="1200">
                <a:solidFill>
                  <a:srgbClr val="E2E8F0"/>
                </a:solidFill>
              </a:defRPr>
            </a:pPr>
            <a:r>
              <a:t>• Deep ATS Heuristic Engine evaluating section integrity, action verbs, and quantified metrics.</a:t>
            </a:r>
          </a:p>
          <a:p>
            <a:pPr>
              <a:spcAft>
                <a:spcPts val="1200"/>
              </a:spcAft>
              <a:defRPr sz="1200">
                <a:solidFill>
                  <a:srgbClr val="E2E8F0"/>
                </a:solidFill>
              </a:defRPr>
            </a:pPr>
            <a:r>
              <a:t>• Dynamic Interview Question Kit tailored specifically to candidate skill gaps.</a:t>
            </a:r>
          </a:p>
        </p:txBody>
      </p:sp>
      <p:sp>
        <p:nvSpPr>
          <p:cNvPr id="14" name="Rounded Rectangle 13"/>
          <p:cNvSpPr/>
          <p:nvPr/>
        </p:nvSpPr>
        <p:spPr>
          <a:xfrm>
            <a:off x="8046720" y="1280160"/>
            <a:ext cx="34747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MEASURABLE OUTCOMES</a:t>
            </a:r>
          </a:p>
        </p:txBody>
      </p:sp>
      <p:sp>
        <p:nvSpPr>
          <p:cNvPr id="16" name="TextBox 15"/>
          <p:cNvSpPr txBox="1"/>
          <p:nvPr/>
        </p:nvSpPr>
        <p:spPr>
          <a:xfrm>
            <a:off x="8229600" y="1828800"/>
            <a:ext cx="3108960" cy="4206240"/>
          </a:xfrm>
          <a:prstGeom prst="rect">
            <a:avLst/>
          </a:prstGeom>
          <a:noFill/>
        </p:spPr>
        <p:txBody>
          <a:bodyPr wrap="square" lIns="0" tIns="0" rIns="0" bIns="0">
            <a:spAutoFit/>
          </a:bodyPr>
          <a:lstStyle/>
          <a:p/>
          <a:p>
            <a:pPr>
              <a:spcAft>
                <a:spcPts val="1200"/>
              </a:spcAft>
              <a:defRPr sz="1200">
                <a:solidFill>
                  <a:srgbClr val="E2E8F0"/>
                </a:solidFill>
              </a:defRPr>
            </a:pPr>
            <a:r>
              <a:t>• 100% Zero-Disk Privacy: File streams parsed in volatile RAM with zero disk writes.</a:t>
            </a:r>
          </a:p>
          <a:p>
            <a:pPr>
              <a:spcAft>
                <a:spcPts val="1200"/>
              </a:spcAft>
              <a:defRPr sz="1200">
                <a:solidFill>
                  <a:srgbClr val="E2E8F0"/>
                </a:solidFill>
              </a:defRPr>
            </a:pPr>
            <a:r>
              <a:t>• Sub-5ms response time for deterministic evaluation; ~780ms for cloud AI analysis.</a:t>
            </a:r>
          </a:p>
          <a:p>
            <a:pPr>
              <a:spcAft>
                <a:spcPts val="1200"/>
              </a:spcAft>
              <a:defRPr sz="1200">
                <a:solidFill>
                  <a:srgbClr val="E2E8F0"/>
                </a:solidFill>
              </a:defRPr>
            </a:pPr>
            <a:r>
              <a:t>• 92 of 92 Automated Tests Passing (100% test pass rate across 13 modules).</a:t>
            </a:r>
          </a:p>
          <a:p>
            <a:pPr>
              <a:spcAft>
                <a:spcPts val="1200"/>
              </a:spcAft>
              <a:defRPr sz="1200">
                <a:solidFill>
                  <a:srgbClr val="E2E8F0"/>
                </a:solidFill>
              </a:defRPr>
            </a:pPr>
            <a:r>
              <a:t>• Live in production on Vercel &amp; Render with zero server hosting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TEAM COLLABORATION &amp; DIVISION OF OWNERSHIP</a:t>
            </a:r>
          </a:p>
          <a:p>
            <a:pPr>
              <a:defRPr sz="1200">
                <a:solidFill>
                  <a:srgbClr val="38BDF8"/>
                </a:solidFill>
                <a:latin typeface="Calibri"/>
              </a:defRPr>
            </a:pPr>
            <a:r>
              <a:t>How 4 Engineers Built a Complete Production Platform End-to-End</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3 of 18</a:t>
            </a:r>
          </a:p>
        </p:txBody>
      </p:sp>
      <p:sp>
        <p:nvSpPr>
          <p:cNvPr id="8" name="Rounded Rectangle 7"/>
          <p:cNvSpPr/>
          <p:nvPr/>
        </p:nvSpPr>
        <p:spPr>
          <a:xfrm>
            <a:off x="548640" y="1280160"/>
            <a:ext cx="25603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hivansh_circle.png"/>
          <p:cNvPicPr>
            <a:picLocks noChangeAspect="1"/>
          </p:cNvPicPr>
          <p:nvPr/>
        </p:nvPicPr>
        <p:blipFill>
          <a:blip r:embed="rId2"/>
          <a:stretch>
            <a:fillRect/>
          </a:stretch>
        </p:blipFill>
        <p:spPr>
          <a:xfrm>
            <a:off x="1371600" y="1463040"/>
            <a:ext cx="914400" cy="914400"/>
          </a:xfrm>
          <a:prstGeom prst="rect">
            <a:avLst/>
          </a:prstGeom>
        </p:spPr>
      </p:pic>
      <p:sp>
        <p:nvSpPr>
          <p:cNvPr id="10" name="TextBox 9"/>
          <p:cNvSpPr txBox="1"/>
          <p:nvPr/>
        </p:nvSpPr>
        <p:spPr>
          <a:xfrm>
            <a:off x="685800" y="2468880"/>
            <a:ext cx="2286000" cy="3566160"/>
          </a:xfrm>
          <a:prstGeom prst="rect">
            <a:avLst/>
          </a:prstGeom>
          <a:noFill/>
        </p:spPr>
        <p:txBody>
          <a:bodyPr wrap="square" lIns="0" tIns="0" rIns="0" bIns="0">
            <a:spAutoFit/>
          </a:bodyPr>
          <a:lstStyle/>
          <a:p>
            <a:pPr algn="ctr">
              <a:defRPr b="1" sz="1300">
                <a:solidFill>
                  <a:srgbClr val="FFFFFF"/>
                </a:solidFill>
              </a:defRPr>
            </a:pPr>
            <a:r>
              <a:t>Shivansh Mishra</a:t>
            </a:r>
          </a:p>
          <a:p>
            <a:pPr algn="ctr">
              <a:spcAft>
                <a:spcPts val="1000"/>
              </a:spcAft>
              <a:defRPr b="1" sz="950">
                <a:solidFill>
                  <a:srgbClr val="38BDF8"/>
                </a:solidFill>
              </a:defRPr>
            </a:pPr>
            <a:r>
              <a:t>Team Leader &amp; Principal Architect</a:t>
            </a:r>
          </a:p>
          <a:p>
            <a:pPr>
              <a:spcAft>
                <a:spcPts val="600"/>
              </a:spcAft>
              <a:defRPr sz="1000">
                <a:solidFill>
                  <a:srgbClr val="E2E8F0"/>
                </a:solidFill>
              </a:defRPr>
            </a:pPr>
            <a:r>
              <a:t>• Conceived &amp; led entire project architecture</a:t>
            </a:r>
          </a:p>
          <a:p>
            <a:pPr>
              <a:spcAft>
                <a:spcPts val="600"/>
              </a:spcAft>
              <a:defRPr sz="1000">
                <a:solidFill>
                  <a:srgbClr val="E2E8F0"/>
                </a:solidFill>
              </a:defRPr>
            </a:pPr>
            <a:r>
              <a:t>• Engineered FastAPI REST Gateway &amp; routing</a:t>
            </a:r>
          </a:p>
          <a:p>
            <a:pPr>
              <a:spcAft>
                <a:spcPts val="600"/>
              </a:spcAft>
              <a:defRPr sz="1000">
                <a:solidFill>
                  <a:srgbClr val="E2E8F0"/>
                </a:solidFill>
              </a:defRPr>
            </a:pPr>
            <a:r>
              <a:t>• Multi-Provider AI (Gemini, GPT-4o, Claude)</a:t>
            </a:r>
          </a:p>
          <a:p>
            <a:pPr>
              <a:spcAft>
                <a:spcPts val="600"/>
              </a:spcAft>
              <a:defRPr sz="1000">
                <a:solidFill>
                  <a:srgbClr val="E2E8F0"/>
                </a:solidFill>
              </a:defRPr>
            </a:pPr>
            <a:r>
              <a:t>• 440+ Skills Taxonomy Graph &amp; Synonym Engine</a:t>
            </a:r>
          </a:p>
          <a:p>
            <a:pPr>
              <a:spcAft>
                <a:spcPts val="600"/>
              </a:spcAft>
              <a:defRPr sz="1000">
                <a:solidFill>
                  <a:srgbClr val="E2E8F0"/>
                </a:solidFill>
              </a:defRPr>
            </a:pPr>
            <a:r>
              <a:t>• PyMuPDF In-Memory Stream Parser &amp; Exporter</a:t>
            </a:r>
          </a:p>
        </p:txBody>
      </p:sp>
      <p:sp>
        <p:nvSpPr>
          <p:cNvPr id="11" name="Rounded Rectangle 10"/>
          <p:cNvSpPr/>
          <p:nvPr/>
        </p:nvSpPr>
        <p:spPr>
          <a:xfrm>
            <a:off x="3328416" y="1280160"/>
            <a:ext cx="25603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arshvardhan_circle.png"/>
          <p:cNvPicPr>
            <a:picLocks noChangeAspect="1"/>
          </p:cNvPicPr>
          <p:nvPr/>
        </p:nvPicPr>
        <p:blipFill>
          <a:blip r:embed="rId3"/>
          <a:stretch>
            <a:fillRect/>
          </a:stretch>
        </p:blipFill>
        <p:spPr>
          <a:xfrm>
            <a:off x="4151376" y="1463040"/>
            <a:ext cx="914400" cy="914400"/>
          </a:xfrm>
          <a:prstGeom prst="rect">
            <a:avLst/>
          </a:prstGeom>
        </p:spPr>
      </p:pic>
      <p:sp>
        <p:nvSpPr>
          <p:cNvPr id="13" name="TextBox 12"/>
          <p:cNvSpPr txBox="1"/>
          <p:nvPr/>
        </p:nvSpPr>
        <p:spPr>
          <a:xfrm>
            <a:off x="3465576" y="2468880"/>
            <a:ext cx="2286000" cy="3566160"/>
          </a:xfrm>
          <a:prstGeom prst="rect">
            <a:avLst/>
          </a:prstGeom>
          <a:noFill/>
        </p:spPr>
        <p:txBody>
          <a:bodyPr wrap="square" lIns="0" tIns="0" rIns="0" bIns="0">
            <a:spAutoFit/>
          </a:bodyPr>
          <a:lstStyle/>
          <a:p>
            <a:pPr algn="ctr">
              <a:defRPr b="1" sz="1300">
                <a:solidFill>
                  <a:srgbClr val="FFFFFF"/>
                </a:solidFill>
              </a:defRPr>
            </a:pPr>
            <a:r>
              <a:t>Harshvardhan Sisodiya</a:t>
            </a:r>
          </a:p>
          <a:p>
            <a:pPr algn="ctr">
              <a:spcAft>
                <a:spcPts val="1000"/>
              </a:spcAft>
              <a:defRPr b="1" sz="950">
                <a:solidFill>
                  <a:srgbClr val="A855F7"/>
                </a:solidFill>
              </a:defRPr>
            </a:pPr>
            <a:r>
              <a:t>Frontend Architect &amp; UI/UX Lead</a:t>
            </a:r>
          </a:p>
          <a:p>
            <a:pPr>
              <a:spcAft>
                <a:spcPts val="600"/>
              </a:spcAft>
              <a:defRPr sz="1000">
                <a:solidFill>
                  <a:srgbClr val="E2E8F0"/>
                </a:solidFill>
              </a:defRPr>
            </a:pPr>
            <a:r>
              <a:t>• React 19 Single Page Application architecture</a:t>
            </a:r>
          </a:p>
          <a:p>
            <a:pPr>
              <a:spcAft>
                <a:spcPts val="600"/>
              </a:spcAft>
              <a:defRPr sz="1000">
                <a:solidFill>
                  <a:srgbClr val="E2E8F0"/>
                </a:solidFill>
              </a:defRPr>
            </a:pPr>
            <a:r>
              <a:t>• Nebula Aurora GPU-accelerated Glassmorphism</a:t>
            </a:r>
          </a:p>
          <a:p>
            <a:pPr>
              <a:spcAft>
                <a:spcPts val="600"/>
              </a:spcAft>
              <a:defRPr sz="1000">
                <a:solidFill>
                  <a:srgbClr val="E2E8F0"/>
                </a:solidFill>
              </a:defRPr>
            </a:pPr>
            <a:r>
              <a:t>• 60/120 FPS requestAnimationFrame physics</a:t>
            </a:r>
          </a:p>
          <a:p>
            <a:pPr>
              <a:spcAft>
                <a:spcPts val="600"/>
              </a:spcAft>
              <a:defRPr sz="1000">
                <a:solidFill>
                  <a:srgbClr val="E2E8F0"/>
                </a:solidFill>
              </a:defRPr>
            </a:pPr>
            <a:r>
              <a:t>• 180px SVG Radial Match Gauge &amp; count-up</a:t>
            </a:r>
          </a:p>
          <a:p>
            <a:pPr>
              <a:spcAft>
                <a:spcPts val="600"/>
              </a:spcAft>
              <a:defRPr sz="1000">
                <a:solidFill>
                  <a:srgbClr val="E2E8F0"/>
                </a:solidFill>
              </a:defRPr>
            </a:pPr>
            <a:r>
              <a:t>• Mobile-responsive Bento Grid &amp; BYOK Vault</a:t>
            </a:r>
          </a:p>
        </p:txBody>
      </p:sp>
      <p:sp>
        <p:nvSpPr>
          <p:cNvPr id="14" name="Rounded Rectangle 13"/>
          <p:cNvSpPr/>
          <p:nvPr/>
        </p:nvSpPr>
        <p:spPr>
          <a:xfrm>
            <a:off x="6108192" y="1280160"/>
            <a:ext cx="25603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shal_circle.png"/>
          <p:cNvPicPr>
            <a:picLocks noChangeAspect="1"/>
          </p:cNvPicPr>
          <p:nvPr/>
        </p:nvPicPr>
        <p:blipFill>
          <a:blip r:embed="rId4"/>
          <a:stretch>
            <a:fillRect/>
          </a:stretch>
        </p:blipFill>
        <p:spPr>
          <a:xfrm>
            <a:off x="6931152" y="1463040"/>
            <a:ext cx="914400" cy="914400"/>
          </a:xfrm>
          <a:prstGeom prst="rect">
            <a:avLst/>
          </a:prstGeom>
        </p:spPr>
      </p:pic>
      <p:sp>
        <p:nvSpPr>
          <p:cNvPr id="16" name="TextBox 15"/>
          <p:cNvSpPr txBox="1"/>
          <p:nvPr/>
        </p:nvSpPr>
        <p:spPr>
          <a:xfrm>
            <a:off x="6245352" y="2468880"/>
            <a:ext cx="2286000" cy="3566160"/>
          </a:xfrm>
          <a:prstGeom prst="rect">
            <a:avLst/>
          </a:prstGeom>
          <a:noFill/>
        </p:spPr>
        <p:txBody>
          <a:bodyPr wrap="square" lIns="0" tIns="0" rIns="0" bIns="0">
            <a:spAutoFit/>
          </a:bodyPr>
          <a:lstStyle/>
          <a:p>
            <a:pPr algn="ctr">
              <a:defRPr b="1" sz="1300">
                <a:solidFill>
                  <a:srgbClr val="FFFFFF"/>
                </a:solidFill>
              </a:defRPr>
            </a:pPr>
            <a:r>
              <a:t>Vishal Patel</a:t>
            </a:r>
          </a:p>
          <a:p>
            <a:pPr algn="ctr">
              <a:spcAft>
                <a:spcPts val="1000"/>
              </a:spcAft>
              <a:defRPr b="1" sz="950">
                <a:solidFill>
                  <a:srgbClr val="10B981"/>
                </a:solidFill>
              </a:defRPr>
            </a:pPr>
            <a:r>
              <a:t>QA Lead &amp; Security Specialist</a:t>
            </a:r>
          </a:p>
          <a:p>
            <a:pPr>
              <a:spcAft>
                <a:spcPts val="600"/>
              </a:spcAft>
              <a:defRPr sz="1000">
                <a:solidFill>
                  <a:srgbClr val="E2E8F0"/>
                </a:solidFill>
              </a:defRPr>
            </a:pPr>
            <a:r>
              <a:t>• 92 Automated Tests (100% passing across 13 modules)</a:t>
            </a:r>
          </a:p>
          <a:p>
            <a:pPr>
              <a:spcAft>
                <a:spcPts val="600"/>
              </a:spcAft>
              <a:defRPr sz="1000">
                <a:solidFill>
                  <a:srgbClr val="E2E8F0"/>
                </a:solidFill>
              </a:defRPr>
            </a:pPr>
            <a:r>
              <a:t>• Concurrency &amp; Latency Benchmark Runner</a:t>
            </a:r>
          </a:p>
          <a:p>
            <a:pPr>
              <a:spcAft>
                <a:spcPts val="600"/>
              </a:spcAft>
              <a:defRPr sz="1000">
                <a:solidFill>
                  <a:srgbClr val="E2E8F0"/>
                </a:solidFill>
              </a:defRPr>
            </a:pPr>
            <a:r>
              <a:t>• OWASP API Top 10 Security Hardening</a:t>
            </a:r>
          </a:p>
          <a:p>
            <a:pPr>
              <a:spcAft>
                <a:spcPts val="600"/>
              </a:spcAft>
              <a:defRPr sz="1000">
                <a:solidFill>
                  <a:srgbClr val="E2E8F0"/>
                </a:solidFill>
              </a:defRPr>
            </a:pPr>
            <a:r>
              <a:t>• Prompt injection, XSS &amp; SQLi sanitization</a:t>
            </a:r>
          </a:p>
          <a:p>
            <a:pPr>
              <a:spcAft>
                <a:spcPts val="600"/>
              </a:spcAft>
              <a:defRPr sz="1000">
                <a:solidFill>
                  <a:srgbClr val="E2E8F0"/>
                </a:solidFill>
              </a:defRPr>
            </a:pPr>
            <a:r>
              <a:t>• Synthetic candidate evaluation dataset</a:t>
            </a:r>
          </a:p>
        </p:txBody>
      </p:sp>
      <p:sp>
        <p:nvSpPr>
          <p:cNvPr id="17" name="Rounded Rectangle 16"/>
          <p:cNvSpPr/>
          <p:nvPr/>
        </p:nvSpPr>
        <p:spPr>
          <a:xfrm>
            <a:off x="8887968" y="1280160"/>
            <a:ext cx="2560320" cy="4937760"/>
          </a:xfrm>
          <a:prstGeom prst="roundRect">
            <a:avLst/>
          </a:prstGeom>
          <a:solidFill>
            <a:srgbClr val="151C2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ujeet_circle.png"/>
          <p:cNvPicPr>
            <a:picLocks noChangeAspect="1"/>
          </p:cNvPicPr>
          <p:nvPr/>
        </p:nvPicPr>
        <p:blipFill>
          <a:blip r:embed="rId5"/>
          <a:stretch>
            <a:fillRect/>
          </a:stretch>
        </p:blipFill>
        <p:spPr>
          <a:xfrm>
            <a:off x="9710928" y="1463040"/>
            <a:ext cx="914400" cy="914400"/>
          </a:xfrm>
          <a:prstGeom prst="rect">
            <a:avLst/>
          </a:prstGeom>
        </p:spPr>
      </p:pic>
      <p:sp>
        <p:nvSpPr>
          <p:cNvPr id="19" name="TextBox 18"/>
          <p:cNvSpPr txBox="1"/>
          <p:nvPr/>
        </p:nvSpPr>
        <p:spPr>
          <a:xfrm>
            <a:off x="9025128" y="2468880"/>
            <a:ext cx="2286000" cy="3566160"/>
          </a:xfrm>
          <a:prstGeom prst="rect">
            <a:avLst/>
          </a:prstGeom>
          <a:noFill/>
        </p:spPr>
        <p:txBody>
          <a:bodyPr wrap="square" lIns="0" tIns="0" rIns="0" bIns="0">
            <a:spAutoFit/>
          </a:bodyPr>
          <a:lstStyle/>
          <a:p>
            <a:pPr algn="ctr">
              <a:defRPr b="1" sz="1300">
                <a:solidFill>
                  <a:srgbClr val="FFFFFF"/>
                </a:solidFill>
              </a:defRPr>
            </a:pPr>
            <a:r>
              <a:t>Sujeet Kannaujiya</a:t>
            </a:r>
          </a:p>
          <a:p>
            <a:pPr algn="ctr">
              <a:spcAft>
                <a:spcPts val="1000"/>
              </a:spcAft>
              <a:defRPr b="1" sz="950">
                <a:solidFill>
                  <a:srgbClr val="F59E0B"/>
                </a:solidFill>
              </a:defRPr>
            </a:pPr>
            <a:r>
              <a:t>Research &amp; Documentation Lead</a:t>
            </a:r>
          </a:p>
          <a:p>
            <a:pPr>
              <a:spcAft>
                <a:spcPts val="600"/>
              </a:spcAft>
              <a:defRPr sz="1000">
                <a:solidFill>
                  <a:srgbClr val="E2E8F0"/>
                </a:solidFill>
              </a:defRPr>
            </a:pPr>
            <a:r>
              <a:t>• Academic Capstone Dossier &amp; Technical Specs</a:t>
            </a:r>
          </a:p>
          <a:p>
            <a:pPr>
              <a:spcAft>
                <a:spcPts val="600"/>
              </a:spcAft>
              <a:defRPr sz="1000">
                <a:solidFill>
                  <a:srgbClr val="E2E8F0"/>
                </a:solidFill>
              </a:defRPr>
            </a:pPr>
            <a:r>
              <a:t>• ATS Heuristic Parsing Algorithm Specification</a:t>
            </a:r>
          </a:p>
          <a:p>
            <a:pPr>
              <a:spcAft>
                <a:spcPts val="600"/>
              </a:spcAft>
              <a:defRPr sz="1000">
                <a:solidFill>
                  <a:srgbClr val="E2E8F0"/>
                </a:solidFill>
              </a:defRPr>
            </a:pPr>
            <a:r>
              <a:t>• LLM Model Benchmarking Study &amp; Trade-offs</a:t>
            </a:r>
          </a:p>
          <a:p>
            <a:pPr>
              <a:spcAft>
                <a:spcPts val="600"/>
              </a:spcAft>
              <a:defRPr sz="1000">
                <a:solidFill>
                  <a:srgbClr val="E2E8F0"/>
                </a:solidFill>
              </a:defRPr>
            </a:pPr>
            <a:r>
              <a:t>• Ethical AI Fairness &amp; Bias Mitigation Rubric</a:t>
            </a:r>
          </a:p>
          <a:p>
            <a:pPr>
              <a:spcAft>
                <a:spcPts val="600"/>
              </a:spcAft>
              <a:defRPr sz="1000">
                <a:solidFill>
                  <a:srgbClr val="E2E8F0"/>
                </a:solidFill>
              </a:defRPr>
            </a:pPr>
            <a:r>
              <a:t>• OpenAPI reference &amp; presentation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PROBLEM STATEMENT &amp; MOTIVATION</a:t>
            </a:r>
          </a:p>
          <a:p>
            <a:pPr>
              <a:defRPr sz="1200">
                <a:solidFill>
                  <a:srgbClr val="38BDF8"/>
                </a:solidFill>
                <a:latin typeface="Calibri"/>
              </a:defRPr>
            </a:pPr>
            <a:r>
              <a:t>Why Real Candidates Are Being Silently Filtered Out by Traditional Systems</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4 of 18</a:t>
            </a:r>
          </a:p>
        </p:txBody>
      </p:sp>
      <p:sp>
        <p:nvSpPr>
          <p:cNvPr id="8" name="Rounded Rectangle 7"/>
          <p:cNvSpPr/>
          <p:nvPr/>
        </p:nvSpPr>
        <p:spPr>
          <a:xfrm>
            <a:off x="548640" y="1280160"/>
            <a:ext cx="3474720" cy="4937760"/>
          </a:xfrm>
          <a:prstGeom prst="roundRect">
            <a:avLst/>
          </a:prstGeom>
          <a:solidFill>
            <a:srgbClr val="151C2C"/>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3108960" cy="365760"/>
          </a:xfrm>
          <a:prstGeom prst="rect">
            <a:avLst/>
          </a:prstGeom>
          <a:noFill/>
        </p:spPr>
        <p:txBody>
          <a:bodyPr wrap="square" lIns="0" tIns="0" rIns="0" bIns="0">
            <a:spAutoFit/>
          </a:bodyPr>
          <a:lstStyle/>
          <a:p>
            <a:pPr>
              <a:defRPr b="1" sz="1400">
                <a:solidFill>
                  <a:srgbClr val="38BDF8"/>
                </a:solidFill>
                <a:latin typeface="Calibri"/>
              </a:defRPr>
            </a:pPr>
            <a:r>
              <a:t>1. The Keyword Mismatch Trap</a:t>
            </a:r>
          </a:p>
        </p:txBody>
      </p:sp>
      <p:sp>
        <p:nvSpPr>
          <p:cNvPr id="10" name="TextBox 9"/>
          <p:cNvSpPr txBox="1"/>
          <p:nvPr/>
        </p:nvSpPr>
        <p:spPr>
          <a:xfrm>
            <a:off x="731520" y="2011680"/>
            <a:ext cx="3108960" cy="4023360"/>
          </a:xfrm>
          <a:prstGeom prst="rect">
            <a:avLst/>
          </a:prstGeom>
          <a:noFill/>
        </p:spPr>
        <p:txBody>
          <a:bodyPr wrap="square" lIns="0" tIns="0" rIns="0" bIns="0">
            <a:spAutoFit/>
          </a:bodyPr>
          <a:lstStyle/>
          <a:p/>
          <a:p>
            <a:pPr>
              <a:spcAft>
                <a:spcPts val="1400"/>
              </a:spcAft>
              <a:defRPr sz="1200">
                <a:solidFill>
                  <a:srgbClr val="E2E8F0"/>
                </a:solidFill>
              </a:defRPr>
            </a:pPr>
            <a:r>
              <a:t>• Traditional ATS only matches exact spelling: 'Docker', 'Postgres', 'FastAPI'.</a:t>
            </a:r>
          </a:p>
          <a:p>
            <a:pPr>
              <a:spcAft>
                <a:spcPts val="1400"/>
              </a:spcAft>
              <a:defRPr sz="1200">
                <a:solidFill>
                  <a:srgbClr val="E2E8F0"/>
                </a:solidFill>
              </a:defRPr>
            </a:pPr>
            <a:r>
              <a:t>• If a candidate writes 'Containerization', 'RDBMS', or 'RESTful Python Services', legacy ATS awards 0 points.</a:t>
            </a:r>
          </a:p>
          <a:p>
            <a:pPr>
              <a:spcAft>
                <a:spcPts val="1400"/>
              </a:spcAft>
              <a:defRPr sz="1200">
                <a:solidFill>
                  <a:srgbClr val="E2E8F0"/>
                </a:solidFill>
              </a:defRPr>
            </a:pPr>
            <a:r>
              <a:t>• Qualified candidates with deep practical skills get falsely rejected due to vocabulary differences.</a:t>
            </a:r>
          </a:p>
        </p:txBody>
      </p:sp>
      <p:sp>
        <p:nvSpPr>
          <p:cNvPr id="11" name="Rounded Rectangle 10"/>
          <p:cNvSpPr/>
          <p:nvPr/>
        </p:nvSpPr>
        <p:spPr>
          <a:xfrm>
            <a:off x="4297680" y="1280160"/>
            <a:ext cx="3474720" cy="4937760"/>
          </a:xfrm>
          <a:prstGeom prst="roundRect">
            <a:avLst/>
          </a:prstGeom>
          <a:solidFill>
            <a:srgbClr val="151C2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17320"/>
            <a:ext cx="3108960" cy="365760"/>
          </a:xfrm>
          <a:prstGeom prst="rect">
            <a:avLst/>
          </a:prstGeom>
          <a:noFill/>
        </p:spPr>
        <p:txBody>
          <a:bodyPr wrap="square" lIns="0" tIns="0" rIns="0" bIns="0">
            <a:spAutoFit/>
          </a:bodyPr>
          <a:lstStyle/>
          <a:p>
            <a:pPr>
              <a:defRPr b="1" sz="1400">
                <a:solidFill>
                  <a:srgbClr val="38BDF8"/>
                </a:solidFill>
                <a:latin typeface="Calibri"/>
              </a:defRPr>
            </a:pPr>
            <a:r>
              <a:t>2. The Unquantified Bullet Dilemma</a:t>
            </a:r>
          </a:p>
        </p:txBody>
      </p:sp>
      <p:sp>
        <p:nvSpPr>
          <p:cNvPr id="13" name="TextBox 12"/>
          <p:cNvSpPr txBox="1"/>
          <p:nvPr/>
        </p:nvSpPr>
        <p:spPr>
          <a:xfrm>
            <a:off x="4480560" y="2011680"/>
            <a:ext cx="3108960" cy="4023360"/>
          </a:xfrm>
          <a:prstGeom prst="rect">
            <a:avLst/>
          </a:prstGeom>
          <a:noFill/>
        </p:spPr>
        <p:txBody>
          <a:bodyPr wrap="square" lIns="0" tIns="0" rIns="0" bIns="0">
            <a:spAutoFit/>
          </a:bodyPr>
          <a:lstStyle/>
          <a:p/>
          <a:p>
            <a:pPr>
              <a:spcAft>
                <a:spcPts val="1400"/>
              </a:spcAft>
              <a:defRPr sz="1200">
                <a:solidFill>
                  <a:srgbClr val="E2E8F0"/>
                </a:solidFill>
              </a:defRPr>
            </a:pPr>
            <a:r>
              <a:t>• Most resumes describe duties ('Responsible for bug fixes') instead of impact ('Reduced latency by 40%').</a:t>
            </a:r>
          </a:p>
          <a:p>
            <a:pPr>
              <a:spcAft>
                <a:spcPts val="1400"/>
              </a:spcAft>
              <a:defRPr sz="1200">
                <a:solidFill>
                  <a:srgbClr val="E2E8F0"/>
                </a:solidFill>
              </a:defRPr>
            </a:pPr>
            <a:r>
              <a:t>• Recruiters spend an average of only 6 seconds per resume skimming for measurable business ROI.</a:t>
            </a:r>
          </a:p>
          <a:p>
            <a:pPr>
              <a:spcAft>
                <a:spcPts val="1400"/>
              </a:spcAft>
              <a:defRPr sz="1200">
                <a:solidFill>
                  <a:srgbClr val="E2E8F0"/>
                </a:solidFill>
              </a:defRPr>
            </a:pPr>
            <a:r>
              <a:t>• Existing tools do not mathematically score bullet point quantification or action verb diversity.</a:t>
            </a:r>
          </a:p>
        </p:txBody>
      </p:sp>
      <p:sp>
        <p:nvSpPr>
          <p:cNvPr id="14" name="Rounded Rectangle 13"/>
          <p:cNvSpPr/>
          <p:nvPr/>
        </p:nvSpPr>
        <p:spPr>
          <a:xfrm>
            <a:off x="8046720" y="1280160"/>
            <a:ext cx="34747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17320"/>
            <a:ext cx="3108960" cy="365760"/>
          </a:xfrm>
          <a:prstGeom prst="rect">
            <a:avLst/>
          </a:prstGeom>
          <a:noFill/>
        </p:spPr>
        <p:txBody>
          <a:bodyPr wrap="square" lIns="0" tIns="0" rIns="0" bIns="0">
            <a:spAutoFit/>
          </a:bodyPr>
          <a:lstStyle/>
          <a:p>
            <a:pPr>
              <a:defRPr b="1" sz="1400">
                <a:solidFill>
                  <a:srgbClr val="38BDF8"/>
                </a:solidFill>
                <a:latin typeface="Calibri"/>
              </a:defRPr>
            </a:pPr>
            <a:r>
              <a:t>3. The Blind AI / Privacy Black Box</a:t>
            </a:r>
          </a:p>
        </p:txBody>
      </p:sp>
      <p:sp>
        <p:nvSpPr>
          <p:cNvPr id="16" name="TextBox 15"/>
          <p:cNvSpPr txBox="1"/>
          <p:nvPr/>
        </p:nvSpPr>
        <p:spPr>
          <a:xfrm>
            <a:off x="8229600" y="2011680"/>
            <a:ext cx="3108960" cy="4023360"/>
          </a:xfrm>
          <a:prstGeom prst="rect">
            <a:avLst/>
          </a:prstGeom>
          <a:noFill/>
        </p:spPr>
        <p:txBody>
          <a:bodyPr wrap="square" lIns="0" tIns="0" rIns="0" bIns="0">
            <a:spAutoFit/>
          </a:bodyPr>
          <a:lstStyle/>
          <a:p/>
          <a:p>
            <a:pPr>
              <a:spcAft>
                <a:spcPts val="1400"/>
              </a:spcAft>
              <a:defRPr sz="1200">
                <a:solidFill>
                  <a:srgbClr val="E2E8F0"/>
                </a:solidFill>
              </a:defRPr>
            </a:pPr>
            <a:r>
              <a:t>• Commercial AI platforms require uploading resumes to third-party databases, violating user privacy.</a:t>
            </a:r>
          </a:p>
          <a:p>
            <a:pPr>
              <a:spcAft>
                <a:spcPts val="1400"/>
              </a:spcAft>
              <a:defRPr sz="1200">
                <a:solidFill>
                  <a:srgbClr val="E2E8F0"/>
                </a:solidFill>
              </a:defRPr>
            </a:pPr>
            <a:r>
              <a:t>• Pure LLM wrappers fail completely when rate-limited or offline, leaving users stranded.</a:t>
            </a:r>
          </a:p>
          <a:p>
            <a:pPr>
              <a:spcAft>
                <a:spcPts val="1400"/>
              </a:spcAft>
              <a:defRPr sz="1200">
                <a:solidFill>
                  <a:srgbClr val="E2E8F0"/>
                </a:solidFill>
              </a:defRPr>
            </a:pPr>
            <a:r>
              <a:t>• No automated system generates interview prep tailored directly to candidate-specific weaknesses.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PROJECT GOALS &amp; SUCCESS CRITERIA</a:t>
            </a:r>
          </a:p>
          <a:p>
            <a:pPr>
              <a:defRPr sz="1200">
                <a:solidFill>
                  <a:srgbClr val="38BDF8"/>
                </a:solidFill>
                <a:latin typeface="Calibri"/>
              </a:defRPr>
            </a:pPr>
            <a:r>
              <a:t>Clear Engineering Benchmarks Defined Before Writing Any Code</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5 of 18</a:t>
            </a:r>
          </a:p>
        </p:txBody>
      </p:sp>
      <p:sp>
        <p:nvSpPr>
          <p:cNvPr id="8" name="Rounded Rectangle 7"/>
          <p:cNvSpPr/>
          <p:nvPr/>
        </p:nvSpPr>
        <p:spPr>
          <a:xfrm>
            <a:off x="548640" y="1280160"/>
            <a:ext cx="539496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5029200" cy="365760"/>
          </a:xfrm>
          <a:prstGeom prst="rect">
            <a:avLst/>
          </a:prstGeom>
          <a:noFill/>
        </p:spPr>
        <p:txBody>
          <a:bodyPr wrap="square" lIns="0" tIns="0" rIns="0" bIns="0">
            <a:spAutoFit/>
          </a:bodyPr>
          <a:lstStyle/>
          <a:p>
            <a:pPr>
              <a:defRPr b="1" sz="1400">
                <a:solidFill>
                  <a:srgbClr val="38BDF8"/>
                </a:solidFill>
                <a:latin typeface="Calibri"/>
              </a:defRPr>
            </a:pPr>
            <a:r>
              <a:t>🎯 Primary Objectives (Must-Have)</a:t>
            </a:r>
          </a:p>
        </p:txBody>
      </p:sp>
      <p:sp>
        <p:nvSpPr>
          <p:cNvPr id="10" name="TextBox 9"/>
          <p:cNvSpPr txBox="1"/>
          <p:nvPr/>
        </p:nvSpPr>
        <p:spPr>
          <a:xfrm>
            <a:off x="777240" y="1920240"/>
            <a:ext cx="4937760" cy="4114800"/>
          </a:xfrm>
          <a:prstGeom prst="rect">
            <a:avLst/>
          </a:prstGeom>
          <a:noFill/>
        </p:spPr>
        <p:txBody>
          <a:bodyPr wrap="square">
            <a:spAutoFit/>
          </a:bodyPr>
          <a:lstStyle/>
          <a:p/>
          <a:p>
            <a:pPr>
              <a:defRPr b="1" sz="1200">
                <a:solidFill>
                  <a:srgbClr val="FFFFFF"/>
                </a:solidFill>
              </a:defRPr>
            </a:pPr>
            <a:r>
              <a:t>✔ Zero-Disk In-Memory Parsing:</a:t>
            </a:r>
          </a:p>
          <a:p>
            <a:pPr>
              <a:spcAft>
                <a:spcPts val="800"/>
              </a:spcAft>
              <a:defRPr sz="1050">
                <a:solidFill>
                  <a:srgbClr val="E2E8F0"/>
                </a:solidFill>
              </a:defRPr>
            </a:pPr>
            <a:r>
              <a:t>Process PDF/DOCX entirely in volatile RAM buffers. No files ever written to server disk or database.</a:t>
            </a:r>
          </a:p>
          <a:p>
            <a:pPr>
              <a:defRPr b="1" sz="1200">
                <a:solidFill>
                  <a:srgbClr val="FFFFFF"/>
                </a:solidFill>
              </a:defRPr>
            </a:pPr>
            <a:r>
              <a:t>✔ Hybrid Dual-Engine Processing:</a:t>
            </a:r>
          </a:p>
          <a:p>
            <a:pPr>
              <a:spcAft>
                <a:spcPts val="800"/>
              </a:spcAft>
              <a:defRPr sz="1050">
                <a:solidFill>
                  <a:srgbClr val="E2E8F0"/>
                </a:solidFill>
              </a:defRPr>
            </a:pPr>
            <a:r>
              <a:t>Multi-provider AI (Gemini, GPT-4o, Claude) with seamless sub-5ms fallback to deterministic rules.</a:t>
            </a:r>
          </a:p>
          <a:p>
            <a:pPr>
              <a:defRPr b="1" sz="1200">
                <a:solidFill>
                  <a:srgbClr val="FFFFFF"/>
                </a:solidFill>
              </a:defRPr>
            </a:pPr>
            <a:r>
              <a:t>✔ Comprehensive ATS Heuristics:</a:t>
            </a:r>
          </a:p>
          <a:p>
            <a:pPr>
              <a:spcAft>
                <a:spcPts val="800"/>
              </a:spcAft>
              <a:defRPr sz="1050">
                <a:solidFill>
                  <a:srgbClr val="E2E8F0"/>
                </a:solidFill>
              </a:defRPr>
            </a:pPr>
            <a:r>
              <a:t>Audit 7 standard resume sections, calculate action verb density, and measure bullet quantification ratios.</a:t>
            </a:r>
          </a:p>
          <a:p>
            <a:pPr>
              <a:defRPr b="1" sz="1200">
                <a:solidFill>
                  <a:srgbClr val="FFFFFF"/>
                </a:solidFill>
              </a:defRPr>
            </a:pPr>
            <a:r>
              <a:t>✔ Executive 2-Page PDF Export:</a:t>
            </a:r>
          </a:p>
          <a:p>
            <a:pPr>
              <a:spcAft>
                <a:spcPts val="800"/>
              </a:spcAft>
              <a:defRPr sz="1050">
                <a:solidFill>
                  <a:srgbClr val="E2E8F0"/>
                </a:solidFill>
              </a:defRPr>
            </a:pPr>
            <a:r>
              <a:t>Generate publication-grade, print-ready PDF dossiers signed with deterministic SHA-256 digital seals.</a:t>
            </a:r>
          </a:p>
          <a:p>
            <a:pPr>
              <a:defRPr b="1" sz="1200">
                <a:solidFill>
                  <a:srgbClr val="FFFFFF"/>
                </a:solidFill>
              </a:defRPr>
            </a:pPr>
            <a:r>
              <a:t>✔ Targeted Technical Interview Kit:</a:t>
            </a:r>
          </a:p>
          <a:p>
            <a:pPr>
              <a:spcAft>
                <a:spcPts val="800"/>
              </a:spcAft>
              <a:defRPr sz="1050">
                <a:solidFill>
                  <a:srgbClr val="E2E8F0"/>
                </a:solidFill>
              </a:defRPr>
            </a:pPr>
            <a:r>
              <a:t>Automatically generate customized technical questions probing the candidate's exact identified skill gaps.</a:t>
            </a:r>
          </a:p>
        </p:txBody>
      </p:sp>
      <p:sp>
        <p:nvSpPr>
          <p:cNvPr id="11" name="Rounded Rectangle 10"/>
          <p:cNvSpPr/>
          <p:nvPr/>
        </p:nvSpPr>
        <p:spPr>
          <a:xfrm>
            <a:off x="6217920" y="1280160"/>
            <a:ext cx="539496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17320"/>
            <a:ext cx="5029200" cy="365760"/>
          </a:xfrm>
          <a:prstGeom prst="rect">
            <a:avLst/>
          </a:prstGeom>
          <a:noFill/>
        </p:spPr>
        <p:txBody>
          <a:bodyPr wrap="square" lIns="0" tIns="0" rIns="0" bIns="0">
            <a:spAutoFit/>
          </a:bodyPr>
          <a:lstStyle/>
          <a:p>
            <a:pPr>
              <a:defRPr b="1" sz="1400">
                <a:solidFill>
                  <a:srgbClr val="38BDF8"/>
                </a:solidFill>
                <a:latin typeface="Calibri"/>
              </a:defRPr>
            </a:pPr>
            <a:r>
              <a:t>📊 Measurable Verification Benchmarks</a:t>
            </a:r>
          </a:p>
        </p:txBody>
      </p:sp>
      <p:sp>
        <p:nvSpPr>
          <p:cNvPr id="13" name="TextBox 12"/>
          <p:cNvSpPr txBox="1"/>
          <p:nvPr/>
        </p:nvSpPr>
        <p:spPr>
          <a:xfrm>
            <a:off x="6446520" y="1920240"/>
            <a:ext cx="4937760" cy="4114800"/>
          </a:xfrm>
          <a:prstGeom prst="rect">
            <a:avLst/>
          </a:prstGeom>
          <a:noFill/>
        </p:spPr>
        <p:txBody>
          <a:bodyPr wrap="square">
            <a:spAutoFit/>
          </a:bodyPr>
          <a:lstStyle/>
          <a:p/>
          <a:p>
            <a:pPr>
              <a:defRPr b="1" sz="1200">
                <a:solidFill>
                  <a:srgbClr val="10B981"/>
                </a:solidFill>
              </a:defRPr>
            </a:pPr>
            <a:r>
              <a:t>📈 Automated Test Suite:</a:t>
            </a:r>
          </a:p>
          <a:p>
            <a:pPr>
              <a:spcAft>
                <a:spcPts val="1200"/>
              </a:spcAft>
              <a:defRPr sz="1050">
                <a:solidFill>
                  <a:srgbClr val="E2E8F0"/>
                </a:solidFill>
              </a:defRPr>
            </a:pPr>
            <a:r>
              <a:t>Target: 100% pass rate  ➔  Achieved: 92/92 Passing Tests across 13 modules.</a:t>
            </a:r>
          </a:p>
          <a:p>
            <a:pPr>
              <a:defRPr b="1" sz="1200">
                <a:solidFill>
                  <a:srgbClr val="10B981"/>
                </a:solidFill>
              </a:defRPr>
            </a:pPr>
            <a:r>
              <a:t>📈 Deterministic Fallback Latency:</a:t>
            </a:r>
          </a:p>
          <a:p>
            <a:pPr>
              <a:spcAft>
                <a:spcPts val="1200"/>
              </a:spcAft>
              <a:defRPr sz="1050">
                <a:solidFill>
                  <a:srgbClr val="E2E8F0"/>
                </a:solidFill>
              </a:defRPr>
            </a:pPr>
            <a:r>
              <a:t>Target: &lt; 20ms  ➔  Achieved: &lt; 5ms average response time.</a:t>
            </a:r>
          </a:p>
          <a:p>
            <a:pPr>
              <a:defRPr b="1" sz="1200">
                <a:solidFill>
                  <a:srgbClr val="10B981"/>
                </a:solidFill>
              </a:defRPr>
            </a:pPr>
            <a:r>
              <a:t>📈 AI Cloud Latency:</a:t>
            </a:r>
          </a:p>
          <a:p>
            <a:pPr>
              <a:spcAft>
                <a:spcPts val="1200"/>
              </a:spcAft>
              <a:defRPr sz="1050">
                <a:solidFill>
                  <a:srgbClr val="E2E8F0"/>
                </a:solidFill>
              </a:defRPr>
            </a:pPr>
            <a:r>
              <a:t>Target: &lt; 2000ms  ➔  Achieved: ~780ms with Gemini 2.5/3.6 Flash.</a:t>
            </a:r>
          </a:p>
          <a:p>
            <a:pPr>
              <a:defRPr b="1" sz="1200">
                <a:solidFill>
                  <a:srgbClr val="10B981"/>
                </a:solidFill>
              </a:defRPr>
            </a:pPr>
            <a:r>
              <a:t>📈 Frontend Render Performance:</a:t>
            </a:r>
          </a:p>
          <a:p>
            <a:pPr>
              <a:spcAft>
                <a:spcPts val="1200"/>
              </a:spcAft>
              <a:defRPr sz="1050">
                <a:solidFill>
                  <a:srgbClr val="E2E8F0"/>
                </a:solidFill>
              </a:defRPr>
            </a:pPr>
            <a:r>
              <a:t>Target: 60 FPS  ➔  Achieved: 60/120 FPS hardware-accelerated animations.</a:t>
            </a:r>
          </a:p>
          <a:p>
            <a:pPr>
              <a:defRPr b="1" sz="1200">
                <a:solidFill>
                  <a:srgbClr val="10B981"/>
                </a:solidFill>
              </a:defRPr>
            </a:pPr>
            <a:r>
              <a:t>📈 Cloud Infrastructure Cost:</a:t>
            </a:r>
          </a:p>
          <a:p>
            <a:pPr>
              <a:spcAft>
                <a:spcPts val="1200"/>
              </a:spcAft>
              <a:defRPr sz="1050">
                <a:solidFill>
                  <a:srgbClr val="E2E8F0"/>
                </a:solidFill>
              </a:defRPr>
            </a:pPr>
            <a:r>
              <a:t>Target: $0.00/month  ➔  Achieved: 100% free-tier deployment on Render &amp; Vercel.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SOLUTION OVERVIEW &amp; DATA PIPELINE</a:t>
            </a:r>
          </a:p>
          <a:p>
            <a:pPr>
              <a:defRPr sz="1200">
                <a:solidFill>
                  <a:srgbClr val="38BDF8"/>
                </a:solidFill>
                <a:latin typeface="Calibri"/>
              </a:defRPr>
            </a:pPr>
            <a:r>
              <a:t>The 4-Stage End-to-End Analysis Architecture from Upload to Executive Report</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6 of 18</a:t>
            </a:r>
          </a:p>
        </p:txBody>
      </p:sp>
      <p:sp>
        <p:nvSpPr>
          <p:cNvPr id="8" name="Rounded Rectangle 7"/>
          <p:cNvSpPr/>
          <p:nvPr/>
        </p:nvSpPr>
        <p:spPr>
          <a:xfrm>
            <a:off x="548640" y="1280160"/>
            <a:ext cx="25603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2194560" cy="365760"/>
          </a:xfrm>
          <a:prstGeom prst="rect">
            <a:avLst/>
          </a:prstGeom>
          <a:noFill/>
        </p:spPr>
        <p:txBody>
          <a:bodyPr wrap="square" lIns="0" tIns="0" rIns="0" bIns="0">
            <a:spAutoFit/>
          </a:bodyPr>
          <a:lstStyle/>
          <a:p>
            <a:pPr>
              <a:defRPr b="1" sz="1400">
                <a:solidFill>
                  <a:srgbClr val="38BDF8"/>
                </a:solidFill>
                <a:latin typeface="Calibri"/>
              </a:defRPr>
            </a:pPr>
            <a:r>
              <a:t>STAGE 1: INGESTION</a:t>
            </a:r>
          </a:p>
        </p:txBody>
      </p:sp>
      <p:sp>
        <p:nvSpPr>
          <p:cNvPr id="10" name="TextBox 9"/>
          <p:cNvSpPr txBox="1"/>
          <p:nvPr/>
        </p:nvSpPr>
        <p:spPr>
          <a:xfrm>
            <a:off x="685800" y="1828800"/>
            <a:ext cx="2286000" cy="4206240"/>
          </a:xfrm>
          <a:prstGeom prst="rect">
            <a:avLst/>
          </a:prstGeom>
          <a:noFill/>
        </p:spPr>
        <p:txBody>
          <a:bodyPr wrap="square" lIns="0" tIns="0" rIns="0" bIns="0">
            <a:spAutoFit/>
          </a:bodyPr>
          <a:lstStyle/>
          <a:p>
            <a:pPr>
              <a:spcAft>
                <a:spcPts val="1200"/>
              </a:spcAft>
              <a:defRPr b="1" sz="1100">
                <a:solidFill>
                  <a:srgbClr val="FFFFFF"/>
                </a:solidFill>
              </a:defRPr>
            </a:pPr>
            <a:r>
              <a:t>Memory-Safe Extraction</a:t>
            </a:r>
          </a:p>
          <a:p>
            <a:pPr>
              <a:spcAft>
                <a:spcPts val="1000"/>
              </a:spcAft>
              <a:defRPr sz="1050">
                <a:solidFill>
                  <a:srgbClr val="E2E8F0"/>
                </a:solidFill>
              </a:defRPr>
            </a:pPr>
            <a:r>
              <a:t>• Upload PDF/DOCX (≤ 5MB)</a:t>
            </a:r>
          </a:p>
          <a:p>
            <a:pPr>
              <a:spcAft>
                <a:spcPts val="1000"/>
              </a:spcAft>
              <a:defRPr sz="1050">
                <a:solidFill>
                  <a:srgbClr val="E2E8F0"/>
                </a:solidFill>
              </a:defRPr>
            </a:pPr>
            <a:r>
              <a:t>• In-Memory PyMuPDF stream</a:t>
            </a:r>
          </a:p>
          <a:p>
            <a:pPr>
              <a:spcAft>
                <a:spcPts val="1000"/>
              </a:spcAft>
              <a:defRPr sz="1050">
                <a:solidFill>
                  <a:srgbClr val="E2E8F0"/>
                </a:solidFill>
              </a:defRPr>
            </a:pPr>
            <a:r>
              <a:t>• Geometric block sorting</a:t>
            </a:r>
          </a:p>
          <a:p>
            <a:pPr>
              <a:spcAft>
                <a:spcPts val="1000"/>
              </a:spcAft>
              <a:defRPr sz="1050">
                <a:solidFill>
                  <a:srgbClr val="E2E8F0"/>
                </a:solidFill>
              </a:defRPr>
            </a:pPr>
            <a:r>
              <a:t>• Scanned image rejection</a:t>
            </a:r>
          </a:p>
          <a:p>
            <a:pPr>
              <a:spcAft>
                <a:spcPts val="1000"/>
              </a:spcAft>
              <a:defRPr sz="1050">
                <a:solidFill>
                  <a:srgbClr val="E2E8F0"/>
                </a:solidFill>
              </a:defRPr>
            </a:pPr>
            <a:r>
              <a:t>• Regex text cleaning</a:t>
            </a:r>
          </a:p>
        </p:txBody>
      </p:sp>
      <p:sp>
        <p:nvSpPr>
          <p:cNvPr id="11" name="Rounded Rectangle 10"/>
          <p:cNvSpPr/>
          <p:nvPr/>
        </p:nvSpPr>
        <p:spPr>
          <a:xfrm>
            <a:off x="3328416" y="1280160"/>
            <a:ext cx="25603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11296" y="1417320"/>
            <a:ext cx="2194560" cy="365760"/>
          </a:xfrm>
          <a:prstGeom prst="rect">
            <a:avLst/>
          </a:prstGeom>
          <a:noFill/>
        </p:spPr>
        <p:txBody>
          <a:bodyPr wrap="square" lIns="0" tIns="0" rIns="0" bIns="0">
            <a:spAutoFit/>
          </a:bodyPr>
          <a:lstStyle/>
          <a:p>
            <a:pPr>
              <a:defRPr b="1" sz="1400">
                <a:solidFill>
                  <a:srgbClr val="38BDF8"/>
                </a:solidFill>
                <a:latin typeface="Calibri"/>
              </a:defRPr>
            </a:pPr>
            <a:r>
              <a:t>STAGE 2: ROUTING</a:t>
            </a:r>
          </a:p>
        </p:txBody>
      </p:sp>
      <p:sp>
        <p:nvSpPr>
          <p:cNvPr id="13" name="TextBox 12"/>
          <p:cNvSpPr txBox="1"/>
          <p:nvPr/>
        </p:nvSpPr>
        <p:spPr>
          <a:xfrm>
            <a:off x="3465576" y="1828800"/>
            <a:ext cx="2286000" cy="4206240"/>
          </a:xfrm>
          <a:prstGeom prst="rect">
            <a:avLst/>
          </a:prstGeom>
          <a:noFill/>
        </p:spPr>
        <p:txBody>
          <a:bodyPr wrap="square" lIns="0" tIns="0" rIns="0" bIns="0">
            <a:spAutoFit/>
          </a:bodyPr>
          <a:lstStyle/>
          <a:p>
            <a:pPr>
              <a:spcAft>
                <a:spcPts val="1200"/>
              </a:spcAft>
              <a:defRPr b="1" sz="1100">
                <a:solidFill>
                  <a:srgbClr val="FFFFFF"/>
                </a:solidFill>
              </a:defRPr>
            </a:pPr>
            <a:r>
              <a:t>Hybrid Dual-Engine</a:t>
            </a:r>
          </a:p>
          <a:p>
            <a:pPr>
              <a:spcAft>
                <a:spcPts val="1000"/>
              </a:spcAft>
              <a:defRPr sz="1050">
                <a:solidFill>
                  <a:srgbClr val="E2E8F0"/>
                </a:solidFill>
              </a:defRPr>
            </a:pPr>
            <a:r>
              <a:t>• Inspect BYOK API Key header</a:t>
            </a:r>
          </a:p>
          <a:p>
            <a:pPr>
              <a:spcAft>
                <a:spcPts val="1000"/>
              </a:spcAft>
              <a:defRPr sz="1050">
                <a:solidFill>
                  <a:srgbClr val="E2E8F0"/>
                </a:solidFill>
              </a:defRPr>
            </a:pPr>
            <a:r>
              <a:t>• Detects Gemini / GPT / Claude</a:t>
            </a:r>
          </a:p>
          <a:p>
            <a:pPr>
              <a:spcAft>
                <a:spcPts val="1000"/>
              </a:spcAft>
              <a:defRPr sz="1050">
                <a:solidFill>
                  <a:srgbClr val="E2E8F0"/>
                </a:solidFill>
              </a:defRPr>
            </a:pPr>
            <a:r>
              <a:t>• AI Primary: Structured rubric</a:t>
            </a:r>
          </a:p>
          <a:p>
            <a:pPr>
              <a:spcAft>
                <a:spcPts val="1000"/>
              </a:spcAft>
              <a:defRPr sz="1050">
                <a:solidFill>
                  <a:srgbClr val="E2E8F0"/>
                </a:solidFill>
              </a:defRPr>
            </a:pPr>
            <a:r>
              <a:t>• Fallback: Sub-5ms rule engine</a:t>
            </a:r>
          </a:p>
          <a:p>
            <a:pPr>
              <a:spcAft>
                <a:spcPts val="1000"/>
              </a:spcAft>
              <a:defRPr sz="1050">
                <a:solidFill>
                  <a:srgbClr val="E2E8F0"/>
                </a:solidFill>
              </a:defRPr>
            </a:pPr>
            <a:r>
              <a:t>• Zero downtime guarantee</a:t>
            </a:r>
          </a:p>
        </p:txBody>
      </p:sp>
      <p:sp>
        <p:nvSpPr>
          <p:cNvPr id="14" name="Rounded Rectangle 13"/>
          <p:cNvSpPr/>
          <p:nvPr/>
        </p:nvSpPr>
        <p:spPr>
          <a:xfrm>
            <a:off x="6108192" y="1280160"/>
            <a:ext cx="25603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417320"/>
            <a:ext cx="2194560" cy="365760"/>
          </a:xfrm>
          <a:prstGeom prst="rect">
            <a:avLst/>
          </a:prstGeom>
          <a:noFill/>
        </p:spPr>
        <p:txBody>
          <a:bodyPr wrap="square" lIns="0" tIns="0" rIns="0" bIns="0">
            <a:spAutoFit/>
          </a:bodyPr>
          <a:lstStyle/>
          <a:p>
            <a:pPr>
              <a:defRPr b="1" sz="1400">
                <a:solidFill>
                  <a:srgbClr val="38BDF8"/>
                </a:solidFill>
                <a:latin typeface="Calibri"/>
              </a:defRPr>
            </a:pPr>
            <a:r>
              <a:t>STAGE 3: ENRICHMENT</a:t>
            </a:r>
          </a:p>
        </p:txBody>
      </p:sp>
      <p:sp>
        <p:nvSpPr>
          <p:cNvPr id="16" name="TextBox 15"/>
          <p:cNvSpPr txBox="1"/>
          <p:nvPr/>
        </p:nvSpPr>
        <p:spPr>
          <a:xfrm>
            <a:off x="6245352" y="1828800"/>
            <a:ext cx="2286000" cy="4206240"/>
          </a:xfrm>
          <a:prstGeom prst="rect">
            <a:avLst/>
          </a:prstGeom>
          <a:noFill/>
        </p:spPr>
        <p:txBody>
          <a:bodyPr wrap="square" lIns="0" tIns="0" rIns="0" bIns="0">
            <a:spAutoFit/>
          </a:bodyPr>
          <a:lstStyle/>
          <a:p>
            <a:pPr>
              <a:spcAft>
                <a:spcPts val="1200"/>
              </a:spcAft>
              <a:defRPr b="1" sz="1100">
                <a:solidFill>
                  <a:srgbClr val="FFFFFF"/>
                </a:solidFill>
              </a:defRPr>
            </a:pPr>
            <a:r>
              <a:t>Heuristics &amp; Taxonomy</a:t>
            </a:r>
          </a:p>
          <a:p>
            <a:pPr>
              <a:spcAft>
                <a:spcPts val="1000"/>
              </a:spcAft>
              <a:defRPr sz="1050">
                <a:solidFill>
                  <a:srgbClr val="E2E8F0"/>
                </a:solidFill>
              </a:defRPr>
            </a:pPr>
            <a:r>
              <a:t>• 440+ Skills Taxonomy Graph</a:t>
            </a:r>
          </a:p>
          <a:p>
            <a:pPr>
              <a:spcAft>
                <a:spcPts val="1000"/>
              </a:spcAft>
              <a:defRPr sz="1050">
                <a:solidFill>
                  <a:srgbClr val="E2E8F0"/>
                </a:solidFill>
              </a:defRPr>
            </a:pPr>
            <a:r>
              <a:t>• 12 Domain classification</a:t>
            </a:r>
          </a:p>
          <a:p>
            <a:pPr>
              <a:spcAft>
                <a:spcPts val="1000"/>
              </a:spcAft>
              <a:defRPr sz="1050">
                <a:solidFill>
                  <a:srgbClr val="E2E8F0"/>
                </a:solidFill>
              </a:defRPr>
            </a:pPr>
            <a:r>
              <a:t>• ATS Section Integrity audit</a:t>
            </a:r>
          </a:p>
          <a:p>
            <a:pPr>
              <a:spcAft>
                <a:spcPts val="1000"/>
              </a:spcAft>
              <a:defRPr sz="1050">
                <a:solidFill>
                  <a:srgbClr val="E2E8F0"/>
                </a:solidFill>
              </a:defRPr>
            </a:pPr>
            <a:r>
              <a:t>• 150+ Action Verb density</a:t>
            </a:r>
          </a:p>
          <a:p>
            <a:pPr>
              <a:spcAft>
                <a:spcPts val="1000"/>
              </a:spcAft>
              <a:defRPr sz="1050">
                <a:solidFill>
                  <a:srgbClr val="E2E8F0"/>
                </a:solidFill>
              </a:defRPr>
            </a:pPr>
            <a:r>
              <a:t>• Metric quantification %</a:t>
            </a:r>
          </a:p>
        </p:txBody>
      </p:sp>
      <p:sp>
        <p:nvSpPr>
          <p:cNvPr id="17" name="Rounded Rectangle 16"/>
          <p:cNvSpPr/>
          <p:nvPr/>
        </p:nvSpPr>
        <p:spPr>
          <a:xfrm>
            <a:off x="8887968" y="1280160"/>
            <a:ext cx="2560320" cy="4937760"/>
          </a:xfrm>
          <a:prstGeom prst="roundRect">
            <a:avLst/>
          </a:prstGeom>
          <a:solidFill>
            <a:srgbClr val="151C2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0848" y="1417320"/>
            <a:ext cx="2194560" cy="365760"/>
          </a:xfrm>
          <a:prstGeom prst="rect">
            <a:avLst/>
          </a:prstGeom>
          <a:noFill/>
        </p:spPr>
        <p:txBody>
          <a:bodyPr wrap="square" lIns="0" tIns="0" rIns="0" bIns="0">
            <a:spAutoFit/>
          </a:bodyPr>
          <a:lstStyle/>
          <a:p>
            <a:pPr>
              <a:defRPr b="1" sz="1400">
                <a:solidFill>
                  <a:srgbClr val="38BDF8"/>
                </a:solidFill>
                <a:latin typeface="Calibri"/>
              </a:defRPr>
            </a:pPr>
            <a:r>
              <a:t>STAGE 4: PRESENTATION</a:t>
            </a:r>
          </a:p>
        </p:txBody>
      </p:sp>
      <p:sp>
        <p:nvSpPr>
          <p:cNvPr id="19" name="TextBox 18"/>
          <p:cNvSpPr txBox="1"/>
          <p:nvPr/>
        </p:nvSpPr>
        <p:spPr>
          <a:xfrm>
            <a:off x="9025128" y="1828800"/>
            <a:ext cx="2286000" cy="4206240"/>
          </a:xfrm>
          <a:prstGeom prst="rect">
            <a:avLst/>
          </a:prstGeom>
          <a:noFill/>
        </p:spPr>
        <p:txBody>
          <a:bodyPr wrap="square" lIns="0" tIns="0" rIns="0" bIns="0">
            <a:spAutoFit/>
          </a:bodyPr>
          <a:lstStyle/>
          <a:p>
            <a:pPr>
              <a:spcAft>
                <a:spcPts val="1200"/>
              </a:spcAft>
              <a:defRPr b="1" sz="1100">
                <a:solidFill>
                  <a:srgbClr val="FFFFFF"/>
                </a:solidFill>
              </a:defRPr>
            </a:pPr>
            <a:r>
              <a:t>Interactive &amp; Export</a:t>
            </a:r>
          </a:p>
          <a:p>
            <a:pPr>
              <a:spcAft>
                <a:spcPts val="1000"/>
              </a:spcAft>
              <a:defRPr sz="1050">
                <a:solidFill>
                  <a:srgbClr val="E2E8F0"/>
                </a:solidFill>
              </a:defRPr>
            </a:pPr>
            <a:r>
              <a:t>• React 19 glassmorphism UI</a:t>
            </a:r>
          </a:p>
          <a:p>
            <a:pPr>
              <a:spcAft>
                <a:spcPts val="1000"/>
              </a:spcAft>
              <a:defRPr sz="1050">
                <a:solidFill>
                  <a:srgbClr val="E2E8F0"/>
                </a:solidFill>
              </a:defRPr>
            </a:pPr>
            <a:r>
              <a:t>• 180px SVG match gauge</a:t>
            </a:r>
          </a:p>
          <a:p>
            <a:pPr>
              <a:spcAft>
                <a:spcPts val="1000"/>
              </a:spcAft>
              <a:defRPr sz="1050">
                <a:solidFill>
                  <a:srgbClr val="E2E8F0"/>
                </a:solidFill>
              </a:defRPr>
            </a:pPr>
            <a:r>
              <a:t>• 2-Page Executive PDF Dossier</a:t>
            </a:r>
          </a:p>
          <a:p>
            <a:pPr>
              <a:spcAft>
                <a:spcPts val="1000"/>
              </a:spcAft>
              <a:defRPr sz="1050">
                <a:solidFill>
                  <a:srgbClr val="E2E8F0"/>
                </a:solidFill>
              </a:defRPr>
            </a:pPr>
            <a:r>
              <a:t>• Recruiter interview kit</a:t>
            </a:r>
          </a:p>
          <a:p>
            <a:pPr>
              <a:spcAft>
                <a:spcPts val="1000"/>
              </a:spcAft>
              <a:defRPr sz="1050">
                <a:solidFill>
                  <a:srgbClr val="E2E8F0"/>
                </a:solidFill>
              </a:defRPr>
            </a:pPr>
            <a:r>
              <a:t>• SHA-256 digital security seal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SYSTEM ARCHITECTURE &amp; TECH STACK</a:t>
            </a:r>
          </a:p>
          <a:p>
            <a:pPr>
              <a:defRPr sz="1200">
                <a:solidFill>
                  <a:srgbClr val="38BDF8"/>
                </a:solidFill>
                <a:latin typeface="Calibri"/>
              </a:defRPr>
            </a:pPr>
            <a:r>
              <a:t>Modern, Production-Proven Technologies Selected for Speed, Privacy &amp; Scale</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&amp; Harshvardhan</a:t>
            </a:r>
          </a:p>
          <a:p>
            <a:pPr algn="ctr">
              <a:defRPr sz="1000">
                <a:solidFill>
                  <a:srgbClr val="38BDF8"/>
                </a:solidFill>
                <a:latin typeface="Calibri"/>
              </a:defRPr>
            </a:pPr>
            <a:r>
              <a:t>Backend &amp; Frontend Leads</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7 of 18</a:t>
            </a:r>
          </a:p>
        </p:txBody>
      </p:sp>
      <p:sp>
        <p:nvSpPr>
          <p:cNvPr id="8" name="Rounded Rectangle 7"/>
          <p:cNvSpPr/>
          <p:nvPr/>
        </p:nvSpPr>
        <p:spPr>
          <a:xfrm>
            <a:off x="548640" y="1280160"/>
            <a:ext cx="34747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BACKEND CORE</a:t>
            </a:r>
          </a:p>
        </p:txBody>
      </p:sp>
      <p:sp>
        <p:nvSpPr>
          <p:cNvPr id="10" name="TextBox 9"/>
          <p:cNvSpPr txBox="1"/>
          <p:nvPr/>
        </p:nvSpPr>
        <p:spPr>
          <a:xfrm>
            <a:off x="731520" y="1828800"/>
            <a:ext cx="3108960" cy="4206240"/>
          </a:xfrm>
          <a:prstGeom prst="rect">
            <a:avLst/>
          </a:prstGeom>
          <a:noFill/>
        </p:spPr>
        <p:txBody>
          <a:bodyPr wrap="square" lIns="0" tIns="0" rIns="0" bIns="0">
            <a:spAutoFit/>
          </a:bodyPr>
          <a:lstStyle/>
          <a:p>
            <a:pPr>
              <a:spcAft>
                <a:spcPts val="1200"/>
              </a:spcAft>
              <a:defRPr b="1" sz="1200">
                <a:solidFill>
                  <a:srgbClr val="FFFFFF"/>
                </a:solidFill>
              </a:defRPr>
            </a:pPr>
            <a:r>
              <a:t>FastAPI &amp; Python 3.13</a:t>
            </a:r>
          </a:p>
          <a:p>
            <a:pPr>
              <a:spcAft>
                <a:spcPts val="1200"/>
              </a:spcAft>
              <a:defRPr sz="1100">
                <a:solidFill>
                  <a:srgbClr val="E2E8F0"/>
                </a:solidFill>
              </a:defRPr>
            </a:pPr>
            <a:r>
              <a:t>• FastAPI: Asynchronous REST API framework with native OpenAPI docs.</a:t>
            </a:r>
          </a:p>
          <a:p>
            <a:pPr>
              <a:spcAft>
                <a:spcPts val="1200"/>
              </a:spcAft>
              <a:defRPr sz="1100">
                <a:solidFill>
                  <a:srgbClr val="E2E8F0"/>
                </a:solidFill>
              </a:defRPr>
            </a:pPr>
            <a:r>
              <a:t>• Python 3.13: Modern memory management and high performance.</a:t>
            </a:r>
          </a:p>
          <a:p>
            <a:pPr>
              <a:spcAft>
                <a:spcPts val="1200"/>
              </a:spcAft>
              <a:defRPr sz="1100">
                <a:solidFill>
                  <a:srgbClr val="E2E8F0"/>
                </a:solidFill>
              </a:defRPr>
            </a:pPr>
            <a:r>
              <a:t>• Pydantic v2: Strict data contracts &amp; request validation.</a:t>
            </a:r>
          </a:p>
          <a:p>
            <a:pPr>
              <a:spcAft>
                <a:spcPts val="1200"/>
              </a:spcAft>
              <a:defRPr sz="1100">
                <a:solidFill>
                  <a:srgbClr val="E2E8F0"/>
                </a:solidFill>
              </a:defRPr>
            </a:pPr>
            <a:r>
              <a:t>• PyMuPDF (fitz): High-speed vector PDF text extraction and PDF generation.</a:t>
            </a:r>
          </a:p>
          <a:p>
            <a:pPr>
              <a:spcAft>
                <a:spcPts val="1200"/>
              </a:spcAft>
              <a:defRPr sz="1100">
                <a:solidFill>
                  <a:srgbClr val="E2E8F0"/>
                </a:solidFill>
              </a:defRPr>
            </a:pPr>
            <a:r>
              <a:t>• Hosted on Render Cloud (Zero-cost free tier container).</a:t>
            </a:r>
          </a:p>
        </p:txBody>
      </p:sp>
      <p:sp>
        <p:nvSpPr>
          <p:cNvPr id="11" name="Rounded Rectangle 10"/>
          <p:cNvSpPr/>
          <p:nvPr/>
        </p:nvSpPr>
        <p:spPr>
          <a:xfrm>
            <a:off x="4297680" y="1280160"/>
            <a:ext cx="34747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AI &amp; SEMANTICS</a:t>
            </a:r>
          </a:p>
        </p:txBody>
      </p:sp>
      <p:sp>
        <p:nvSpPr>
          <p:cNvPr id="13" name="TextBox 12"/>
          <p:cNvSpPr txBox="1"/>
          <p:nvPr/>
        </p:nvSpPr>
        <p:spPr>
          <a:xfrm>
            <a:off x="4480560" y="1828800"/>
            <a:ext cx="3108960" cy="4206240"/>
          </a:xfrm>
          <a:prstGeom prst="rect">
            <a:avLst/>
          </a:prstGeom>
          <a:noFill/>
        </p:spPr>
        <p:txBody>
          <a:bodyPr wrap="square" lIns="0" tIns="0" rIns="0" bIns="0">
            <a:spAutoFit/>
          </a:bodyPr>
          <a:lstStyle/>
          <a:p>
            <a:pPr>
              <a:spcAft>
                <a:spcPts val="1200"/>
              </a:spcAft>
              <a:defRPr b="1" sz="1200">
                <a:solidFill>
                  <a:srgbClr val="FFFFFF"/>
                </a:solidFill>
              </a:defRPr>
            </a:pPr>
            <a:r>
              <a:t>Multi-Provider BYOK</a:t>
            </a:r>
          </a:p>
          <a:p>
            <a:pPr>
              <a:spcAft>
                <a:spcPts val="1200"/>
              </a:spcAft>
              <a:defRPr sz="1100">
                <a:solidFill>
                  <a:srgbClr val="E2E8F0"/>
                </a:solidFill>
              </a:defRPr>
            </a:pPr>
            <a:r>
              <a:t>• Google Gemini 2.5/3.6 Flash: Primary low-latency semantic analysis.</a:t>
            </a:r>
          </a:p>
          <a:p>
            <a:pPr>
              <a:spcAft>
                <a:spcPts val="1200"/>
              </a:spcAft>
              <a:defRPr sz="1100">
                <a:solidFill>
                  <a:srgbClr val="E2E8F0"/>
                </a:solidFill>
              </a:defRPr>
            </a:pPr>
            <a:r>
              <a:t>• OpenAI GPT-4o: Fallback and cross-evaluation model.</a:t>
            </a:r>
          </a:p>
          <a:p>
            <a:pPr>
              <a:spcAft>
                <a:spcPts val="1200"/>
              </a:spcAft>
              <a:defRPr sz="1100">
                <a:solidFill>
                  <a:srgbClr val="E2E8F0"/>
                </a:solidFill>
              </a:defRPr>
            </a:pPr>
            <a:r>
              <a:t>• Anthropic Claude 3.5 Sonnet: High-accuracy deep reasoning.</a:t>
            </a:r>
          </a:p>
          <a:p>
            <a:pPr>
              <a:spcAft>
                <a:spcPts val="1200"/>
              </a:spcAft>
              <a:defRPr sz="1100">
                <a:solidFill>
                  <a:srgbClr val="E2E8F0"/>
                </a:solidFill>
              </a:defRPr>
            </a:pPr>
            <a:r>
              <a:t>• Deterministic Rule Engine: Pure mathematical set-intersection fallback.</a:t>
            </a:r>
          </a:p>
          <a:p>
            <a:pPr>
              <a:spcAft>
                <a:spcPts val="1200"/>
              </a:spcAft>
              <a:defRPr sz="1100">
                <a:solidFill>
                  <a:srgbClr val="E2E8F0"/>
                </a:solidFill>
              </a:defRPr>
            </a:pPr>
            <a:r>
              <a:t>• Prompt Engineering: Rubric-grounded structured JSON schema.</a:t>
            </a:r>
          </a:p>
        </p:txBody>
      </p:sp>
      <p:sp>
        <p:nvSpPr>
          <p:cNvPr id="14" name="Rounded Rectangle 13"/>
          <p:cNvSpPr/>
          <p:nvPr/>
        </p:nvSpPr>
        <p:spPr>
          <a:xfrm>
            <a:off x="8046720" y="1280160"/>
            <a:ext cx="34747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FRONTEND &amp; UI</a:t>
            </a:r>
          </a:p>
        </p:txBody>
      </p:sp>
      <p:sp>
        <p:nvSpPr>
          <p:cNvPr id="16" name="TextBox 15"/>
          <p:cNvSpPr txBox="1"/>
          <p:nvPr/>
        </p:nvSpPr>
        <p:spPr>
          <a:xfrm>
            <a:off x="8229600" y="1828800"/>
            <a:ext cx="3108960" cy="4206240"/>
          </a:xfrm>
          <a:prstGeom prst="rect">
            <a:avLst/>
          </a:prstGeom>
          <a:noFill/>
        </p:spPr>
        <p:txBody>
          <a:bodyPr wrap="square" lIns="0" tIns="0" rIns="0" bIns="0">
            <a:spAutoFit/>
          </a:bodyPr>
          <a:lstStyle/>
          <a:p>
            <a:pPr>
              <a:spcAft>
                <a:spcPts val="1200"/>
              </a:spcAft>
              <a:defRPr b="1" sz="1200">
                <a:solidFill>
                  <a:srgbClr val="FFFFFF"/>
                </a:solidFill>
              </a:defRPr>
            </a:pPr>
            <a:r>
              <a:t>React 19 &amp; Vite</a:t>
            </a:r>
          </a:p>
          <a:p>
            <a:pPr>
              <a:spcAft>
                <a:spcPts val="1200"/>
              </a:spcAft>
              <a:defRPr sz="1100">
                <a:solidFill>
                  <a:srgbClr val="E2E8F0"/>
                </a:solidFill>
              </a:defRPr>
            </a:pPr>
            <a:r>
              <a:t>• React 19: Latest React architecture with optimized rendering.</a:t>
            </a:r>
          </a:p>
          <a:p>
            <a:pPr>
              <a:spcAft>
                <a:spcPts val="1200"/>
              </a:spcAft>
              <a:defRPr sz="1100">
                <a:solidFill>
                  <a:srgbClr val="E2E8F0"/>
                </a:solidFill>
              </a:defRPr>
            </a:pPr>
            <a:r>
              <a:t>• Vite 6: Lightning-fast HMR and 340ms production bundle builds.</a:t>
            </a:r>
          </a:p>
          <a:p>
            <a:pPr>
              <a:spcAft>
                <a:spcPts val="1200"/>
              </a:spcAft>
              <a:defRPr sz="1100">
                <a:solidFill>
                  <a:srgbClr val="E2E8F0"/>
                </a:solidFill>
              </a:defRPr>
            </a:pPr>
            <a:r>
              <a:t>• Vanilla CSS + Tailwind: GPU-accelerated glassmorphism &amp; gradients.</a:t>
            </a:r>
          </a:p>
          <a:p>
            <a:pPr>
              <a:spcAft>
                <a:spcPts val="1200"/>
              </a:spcAft>
              <a:defRPr sz="1100">
                <a:solidFill>
                  <a:srgbClr val="E2E8F0"/>
                </a:solidFill>
              </a:defRPr>
            </a:pPr>
            <a:r>
              <a:t>• requestAnimationFrame: 60/120 FPS hardware-synced counter animations.</a:t>
            </a:r>
          </a:p>
          <a:p>
            <a:pPr>
              <a:spcAft>
                <a:spcPts val="1200"/>
              </a:spcAft>
              <a:defRPr sz="1100">
                <a:solidFill>
                  <a:srgbClr val="E2E8F0"/>
                </a:solidFill>
              </a:defRPr>
            </a:pPr>
            <a:r>
              <a:t>• Hosted on Vercel Edge Network (Global CDN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BACKEND IMPLEMENTATION &amp; MICROSERVICES</a:t>
            </a:r>
          </a:p>
          <a:p>
            <a:pPr>
              <a:defRPr sz="1200">
                <a:solidFill>
                  <a:srgbClr val="38BDF8"/>
                </a:solidFill>
                <a:latin typeface="Calibri"/>
              </a:defRPr>
            </a:pPr>
            <a:r>
              <a:t>Clean Modular Architecture with 5 Enterprise Backend Engines</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8 of 18</a:t>
            </a:r>
          </a:p>
        </p:txBody>
      </p:sp>
      <p:sp>
        <p:nvSpPr>
          <p:cNvPr id="8" name="Rounded Rectangle 7"/>
          <p:cNvSpPr/>
          <p:nvPr/>
        </p:nvSpPr>
        <p:spPr>
          <a:xfrm>
            <a:off x="548640" y="1280160"/>
            <a:ext cx="548640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5120640" cy="365760"/>
          </a:xfrm>
          <a:prstGeom prst="rect">
            <a:avLst/>
          </a:prstGeom>
          <a:noFill/>
        </p:spPr>
        <p:txBody>
          <a:bodyPr wrap="square" lIns="0" tIns="0" rIns="0" bIns="0">
            <a:spAutoFit/>
          </a:bodyPr>
          <a:lstStyle/>
          <a:p>
            <a:pPr>
              <a:defRPr b="1" sz="1400">
                <a:solidFill>
                  <a:srgbClr val="38BDF8"/>
                </a:solidFill>
                <a:latin typeface="Calibri"/>
              </a:defRPr>
            </a:pPr>
            <a:r>
              <a:t>📦 5 Specialized Backend Engines</a:t>
            </a:r>
          </a:p>
        </p:txBody>
      </p:sp>
      <p:sp>
        <p:nvSpPr>
          <p:cNvPr id="10" name="TextBox 9"/>
          <p:cNvSpPr txBox="1"/>
          <p:nvPr/>
        </p:nvSpPr>
        <p:spPr>
          <a:xfrm>
            <a:off x="777240" y="1920240"/>
            <a:ext cx="5029200" cy="4114800"/>
          </a:xfrm>
          <a:prstGeom prst="rect">
            <a:avLst/>
          </a:prstGeom>
          <a:noFill/>
        </p:spPr>
        <p:txBody>
          <a:bodyPr wrap="square">
            <a:spAutoFit/>
          </a:bodyPr>
          <a:lstStyle/>
          <a:p/>
          <a:p>
            <a:pPr>
              <a:defRPr b="1" sz="1100">
                <a:solidFill>
                  <a:srgbClr val="FFFFFF"/>
                </a:solidFill>
              </a:defRPr>
            </a:pPr>
            <a:r>
              <a:t>1. In-Memory Resume Parser (resume_parser.py)</a:t>
            </a:r>
          </a:p>
          <a:p>
            <a:pPr>
              <a:spcAft>
                <a:spcPts val="800"/>
              </a:spcAft>
              <a:defRPr sz="950">
                <a:solidFill>
                  <a:srgbClr val="E2E8F0"/>
                </a:solidFill>
              </a:defRPr>
            </a:pPr>
            <a:r>
              <a:t>Extracts text from PDF/DOCX bytes in RAM using PyMuPDF geometric sorting. Detects scanned image PDFs under 50 characters.</a:t>
            </a:r>
          </a:p>
          <a:p>
            <a:pPr>
              <a:defRPr b="1" sz="1100">
                <a:solidFill>
                  <a:srgbClr val="FFFFFF"/>
                </a:solidFill>
              </a:defRPr>
            </a:pPr>
            <a:r>
              <a:t>2. Skills Taxonomy Engine (taxonomy_service.py)</a:t>
            </a:r>
          </a:p>
          <a:p>
            <a:pPr>
              <a:spcAft>
                <a:spcPts val="800"/>
              </a:spcAft>
              <a:defRPr sz="950">
                <a:solidFill>
                  <a:srgbClr val="E2E8F0"/>
                </a:solidFill>
              </a:defRPr>
            </a:pPr>
            <a:r>
              <a:t>Curated database of 440+ canonical technologies across 12 domains. Automatically resolves synonyms like 'k8s' ➔ 'Kubernetes'.</a:t>
            </a:r>
          </a:p>
          <a:p>
            <a:pPr>
              <a:defRPr b="1" sz="1100">
                <a:solidFill>
                  <a:srgbClr val="FFFFFF"/>
                </a:solidFill>
              </a:defRPr>
            </a:pPr>
            <a:r>
              <a:t>3. Deep ATS Audit Engine (ats_audit_service.py)</a:t>
            </a:r>
          </a:p>
          <a:p>
            <a:pPr>
              <a:spcAft>
                <a:spcPts val="800"/>
              </a:spcAft>
              <a:defRPr sz="950">
                <a:solidFill>
                  <a:srgbClr val="E2E8F0"/>
                </a:solidFill>
              </a:defRPr>
            </a:pPr>
            <a:r>
              <a:t>Detects standard sections (Contact, Experience, Education, Projects). Scans 150+ action verbs and computes quantification ratios.</a:t>
            </a:r>
          </a:p>
          <a:p>
            <a:pPr>
              <a:defRPr b="1" sz="1100">
                <a:solidFill>
                  <a:srgbClr val="FFFFFF"/>
                </a:solidFill>
              </a:defRPr>
            </a:pPr>
            <a:r>
              <a:t>4. Executive Report Exporter (report_exporter.py)</a:t>
            </a:r>
          </a:p>
          <a:p>
            <a:pPr>
              <a:spcAft>
                <a:spcPts val="800"/>
              </a:spcAft>
              <a:defRPr sz="950">
                <a:solidFill>
                  <a:srgbClr val="E2E8F0"/>
                </a:solidFill>
              </a:defRPr>
            </a:pPr>
            <a:r>
              <a:t>Generates 2-Page print-ready executive PDF dossiers, Markdown, HTML, and JSON with cryptographic SHA-256 seals.</a:t>
            </a:r>
          </a:p>
          <a:p>
            <a:pPr>
              <a:defRPr b="1" sz="1100">
                <a:solidFill>
                  <a:srgbClr val="FFFFFF"/>
                </a:solidFill>
              </a:defRPr>
            </a:pPr>
            <a:r>
              <a:t>5. Interview Question Generator (interview_generator.py)</a:t>
            </a:r>
          </a:p>
          <a:p>
            <a:pPr>
              <a:spcAft>
                <a:spcPts val="800"/>
              </a:spcAft>
              <a:defRPr sz="950">
                <a:solidFill>
                  <a:srgbClr val="E2E8F0"/>
                </a:solidFill>
              </a:defRPr>
            </a:pPr>
            <a:r>
              <a:t>Dynamically creates seniority-tiered technical and behavioral questions targeted at the candidate's exact missing skills.</a:t>
            </a:r>
          </a:p>
        </p:txBody>
      </p:sp>
      <p:sp>
        <p:nvSpPr>
          <p:cNvPr id="11" name="Rounded Rectangle 10"/>
          <p:cNvSpPr/>
          <p:nvPr/>
        </p:nvSpPr>
        <p:spPr>
          <a:xfrm>
            <a:off x="6309360" y="1280160"/>
            <a:ext cx="53035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417320"/>
            <a:ext cx="4937760" cy="365760"/>
          </a:xfrm>
          <a:prstGeom prst="rect">
            <a:avLst/>
          </a:prstGeom>
          <a:noFill/>
        </p:spPr>
        <p:txBody>
          <a:bodyPr wrap="square" lIns="0" tIns="0" rIns="0" bIns="0">
            <a:spAutoFit/>
          </a:bodyPr>
          <a:lstStyle/>
          <a:p>
            <a:pPr>
              <a:defRPr b="1" sz="1400">
                <a:solidFill>
                  <a:srgbClr val="38BDF8"/>
                </a:solidFill>
                <a:latin typeface="Calibri"/>
              </a:defRPr>
            </a:pPr>
            <a:r>
              <a:t>⚡ Code Snippet: In-Memory Stream Processing</a:t>
            </a:r>
          </a:p>
        </p:txBody>
      </p:sp>
      <p:sp>
        <p:nvSpPr>
          <p:cNvPr id="13" name="TextBox 12"/>
          <p:cNvSpPr txBox="1"/>
          <p:nvPr/>
        </p:nvSpPr>
        <p:spPr>
          <a:xfrm>
            <a:off x="6537960" y="1920240"/>
            <a:ext cx="4846320" cy="4114800"/>
          </a:xfrm>
          <a:prstGeom prst="rect">
            <a:avLst/>
          </a:prstGeom>
          <a:noFill/>
        </p:spPr>
        <p:txBody>
          <a:bodyPr wrap="square">
            <a:spAutoFit/>
          </a:bodyPr>
          <a:lstStyle/>
          <a:p/>
          <a:p>
            <a:pPr>
              <a:defRPr sz="950">
                <a:solidFill>
                  <a:srgbClr val="38BDF8"/>
                </a:solidFill>
                <a:latin typeface="Consolas"/>
              </a:defRPr>
            </a:pPr>
            <a:r>
              <a:t># Zero-Disk In-Memory Parsing &amp; Fallback Route</a:t>
            </a:r>
            <a:br/>
            <a:r>
              <a:t>@app.post("/analyze")</a:t>
            </a:r>
            <a:br/>
            <a:r>
              <a:t>async def analyze_resume(</a:t>
            </a:r>
            <a:br/>
            <a:r>
              <a:t>    resume: UploadFile = File(...),</a:t>
            </a:r>
            <a:br/>
            <a:r>
              <a:t>    job_description: str = Form(...),</a:t>
            </a:r>
            <a:br/>
            <a:r>
              <a:t>    x_gemini_api_key: Optional[str] = Header(None)</a:t>
            </a:r>
            <a:br/>
            <a:r>
              <a:t>):</a:t>
            </a:r>
            <a:br/>
            <a:r>
              <a:t>    # 1. Read bytes in-memory (No disk write)</a:t>
            </a:r>
            <a:br/>
            <a:r>
              <a:t>    contents = await resume.read()</a:t>
            </a:r>
            <a:br/>
            <a:r>
              <a:t>    </a:t>
            </a:r>
            <a:br/>
            <a:r>
              <a:t>    # 2. Extract text with PyMuPDF</a:t>
            </a:r>
            <a:br/>
            <a:r>
              <a:t>    raw_text = resume_parser.extract_text(</a:t>
            </a:r>
            <a:br/>
            <a:r>
              <a:t>        contents, resume.filename</a:t>
            </a:r>
            <a:br/>
            <a:r>
              <a:t>    )</a:t>
            </a:r>
            <a:br/>
            <a:r>
              <a:t>    </a:t>
            </a:r>
            <a:br/>
            <a:r>
              <a:t>    # 3. Clean and sanitize input</a:t>
            </a:r>
            <a:br/>
            <a:r>
              <a:t>    clean_resume = text_cleaner.clean(raw_text)</a:t>
            </a:r>
            <a:br/>
            <a:r>
              <a:t>    </a:t>
            </a:r>
            <a:br/>
            <a:r>
              <a:t>    # 4. Route: AI Engine with Rule Fallback</a:t>
            </a:r>
            <a:br/>
            <a:r>
              <a:t>    result = await analysis_router.evaluate(</a:t>
            </a:r>
            <a:br/>
            <a:r>
              <a:t>        clean_resume, job_description, key=x_gemini_api_key</a:t>
            </a:r>
            <a:br/>
            <a:r>
              <a:t>    )</a:t>
            </a:r>
            <a:br/>
            <a:r>
              <a:t>    return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MULTI-PROVIDER AI INTEGRATION &amp; RELIABILITY</a:t>
            </a:r>
          </a:p>
          <a:p>
            <a:pPr>
              <a:defRPr sz="1200">
                <a:solidFill>
                  <a:srgbClr val="38BDF8"/>
                </a:solidFill>
                <a:latin typeface="Calibri"/>
              </a:defRPr>
            </a:pPr>
            <a:r>
              <a:t>Prompt Engineering, Structured JSON Schemas &amp; Zero-Downtime Fallback</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9 of 18</a:t>
            </a:r>
          </a:p>
        </p:txBody>
      </p:sp>
      <p:sp>
        <p:nvSpPr>
          <p:cNvPr id="8" name="Rounded Rectangle 7"/>
          <p:cNvSpPr/>
          <p:nvPr/>
        </p:nvSpPr>
        <p:spPr>
          <a:xfrm>
            <a:off x="548640" y="1280160"/>
            <a:ext cx="34747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Multi-Provider BYOK</a:t>
            </a:r>
          </a:p>
        </p:txBody>
      </p:sp>
      <p:sp>
        <p:nvSpPr>
          <p:cNvPr id="10" name="TextBox 9"/>
          <p:cNvSpPr txBox="1"/>
          <p:nvPr/>
        </p:nvSpPr>
        <p:spPr>
          <a:xfrm>
            <a:off x="731520" y="1920240"/>
            <a:ext cx="3108960" cy="4114800"/>
          </a:xfrm>
          <a:prstGeom prst="rect">
            <a:avLst/>
          </a:prstGeom>
          <a:noFill/>
        </p:spPr>
        <p:txBody>
          <a:bodyPr wrap="square" lIns="0" tIns="0" rIns="0" bIns="0">
            <a:spAutoFit/>
          </a:bodyPr>
          <a:lstStyle/>
          <a:p/>
          <a:p>
            <a:pPr>
              <a:spcAft>
                <a:spcPts val="1400"/>
              </a:spcAft>
              <a:defRPr sz="1150">
                <a:solidFill>
                  <a:srgbClr val="E2E8F0"/>
                </a:solidFill>
              </a:defRPr>
            </a:pPr>
            <a:r>
              <a:t>• Users provide their own API key (Bring Your Own Key).</a:t>
            </a:r>
          </a:p>
          <a:p>
            <a:pPr>
              <a:spcAft>
                <a:spcPts val="1400"/>
              </a:spcAft>
              <a:defRPr sz="1150">
                <a:solidFill>
                  <a:srgbClr val="E2E8F0"/>
                </a:solidFill>
              </a:defRPr>
            </a:pPr>
            <a:r>
              <a:t>• Automatic key prefix detection: 'AQ.'/'AIza' ➔ Google Gemini, 'sk-' ➔ OpenAI, 'sk-ant-' ➔ Claude.</a:t>
            </a:r>
          </a:p>
          <a:p>
            <a:pPr>
              <a:spcAft>
                <a:spcPts val="1400"/>
              </a:spcAft>
              <a:defRPr sz="1150">
                <a:solidFill>
                  <a:srgbClr val="E2E8F0"/>
                </a:solidFill>
              </a:defRPr>
            </a:pPr>
            <a:r>
              <a:t>• Keys are never logged, stored in databases, or sent to analytics.</a:t>
            </a:r>
          </a:p>
          <a:p>
            <a:pPr>
              <a:spcAft>
                <a:spcPts val="1400"/>
              </a:spcAft>
              <a:defRPr sz="1150">
                <a:solidFill>
                  <a:srgbClr val="E2E8F0"/>
                </a:solidFill>
              </a:defRPr>
            </a:pPr>
            <a:r>
              <a:t>• Candidate privacy is mathematically guaranteed.</a:t>
            </a:r>
          </a:p>
        </p:txBody>
      </p:sp>
      <p:sp>
        <p:nvSpPr>
          <p:cNvPr id="11" name="Rounded Rectangle 10"/>
          <p:cNvSpPr/>
          <p:nvPr/>
        </p:nvSpPr>
        <p:spPr>
          <a:xfrm>
            <a:off x="4297680" y="1280160"/>
            <a:ext cx="34747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Strict JSON Rubric Schema</a:t>
            </a:r>
          </a:p>
        </p:txBody>
      </p:sp>
      <p:sp>
        <p:nvSpPr>
          <p:cNvPr id="13" name="TextBox 12"/>
          <p:cNvSpPr txBox="1"/>
          <p:nvPr/>
        </p:nvSpPr>
        <p:spPr>
          <a:xfrm>
            <a:off x="4480560" y="1920240"/>
            <a:ext cx="3108960" cy="4114800"/>
          </a:xfrm>
          <a:prstGeom prst="rect">
            <a:avLst/>
          </a:prstGeom>
          <a:noFill/>
        </p:spPr>
        <p:txBody>
          <a:bodyPr wrap="square" lIns="0" tIns="0" rIns="0" bIns="0">
            <a:spAutoFit/>
          </a:bodyPr>
          <a:lstStyle/>
          <a:p/>
          <a:p>
            <a:pPr>
              <a:spcAft>
                <a:spcPts val="1400"/>
              </a:spcAft>
              <a:defRPr sz="1150">
                <a:solidFill>
                  <a:srgbClr val="E2E8F0"/>
                </a:solidFill>
              </a:defRPr>
            </a:pPr>
            <a:r>
              <a:t>• LLMs are forced to output strict Pydantic-validated JSON.</a:t>
            </a:r>
          </a:p>
          <a:p>
            <a:pPr>
              <a:spcAft>
                <a:spcPts val="1400"/>
              </a:spcAft>
              <a:defRPr sz="1150">
                <a:solidFill>
                  <a:srgbClr val="E2E8F0"/>
                </a:solidFill>
              </a:defRPr>
            </a:pPr>
            <a:r>
              <a:t>• Eliminates hallucinations by anchoring scoring to a rigorous evaluation rubric.</a:t>
            </a:r>
          </a:p>
          <a:p>
            <a:pPr>
              <a:spcAft>
                <a:spcPts val="1400"/>
              </a:spcAft>
              <a:defRPr sz="1150">
                <a:solidFill>
                  <a:srgbClr val="E2E8F0"/>
                </a:solidFill>
              </a:defRPr>
            </a:pPr>
            <a:r>
              <a:t>• Custom extractors handle raw markdown fences (```json ... ```) gracefully.</a:t>
            </a:r>
          </a:p>
          <a:p>
            <a:pPr>
              <a:spcAft>
                <a:spcPts val="1400"/>
              </a:spcAft>
              <a:defRPr sz="1150">
                <a:solidFill>
                  <a:srgbClr val="E2E8F0"/>
                </a:solidFill>
              </a:defRPr>
            </a:pPr>
            <a:r>
              <a:t>• Validates matched skills, gap skills, strengths, weaknesses, and actionable advice.</a:t>
            </a:r>
          </a:p>
        </p:txBody>
      </p:sp>
      <p:sp>
        <p:nvSpPr>
          <p:cNvPr id="14" name="Rounded Rectangle 13"/>
          <p:cNvSpPr/>
          <p:nvPr/>
        </p:nvSpPr>
        <p:spPr>
          <a:xfrm>
            <a:off x="8046720" y="1280160"/>
            <a:ext cx="34747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17320"/>
            <a:ext cx="3108960" cy="365760"/>
          </a:xfrm>
          <a:prstGeom prst="rect">
            <a:avLst/>
          </a:prstGeom>
          <a:noFill/>
        </p:spPr>
        <p:txBody>
          <a:bodyPr wrap="square" lIns="0" tIns="0" rIns="0" bIns="0">
            <a:spAutoFit/>
          </a:bodyPr>
          <a:lstStyle/>
          <a:p>
            <a:pPr>
              <a:defRPr b="1" sz="1400">
                <a:solidFill>
                  <a:srgbClr val="38BDF8"/>
                </a:solidFill>
                <a:latin typeface="Calibri"/>
              </a:defRPr>
            </a:pPr>
            <a:r>
              <a:t>🛡️ Zero-Downtime Fallback</a:t>
            </a:r>
          </a:p>
        </p:txBody>
      </p:sp>
      <p:sp>
        <p:nvSpPr>
          <p:cNvPr id="16" name="TextBox 15"/>
          <p:cNvSpPr txBox="1"/>
          <p:nvPr/>
        </p:nvSpPr>
        <p:spPr>
          <a:xfrm>
            <a:off x="8229600" y="1920240"/>
            <a:ext cx="3108960" cy="4114800"/>
          </a:xfrm>
          <a:prstGeom prst="rect">
            <a:avLst/>
          </a:prstGeom>
          <a:noFill/>
        </p:spPr>
        <p:txBody>
          <a:bodyPr wrap="square" lIns="0" tIns="0" rIns="0" bIns="0">
            <a:spAutoFit/>
          </a:bodyPr>
          <a:lstStyle/>
          <a:p/>
          <a:p>
            <a:pPr>
              <a:spcAft>
                <a:spcPts val="1400"/>
              </a:spcAft>
              <a:defRPr sz="1150">
                <a:solidFill>
                  <a:srgbClr val="E2E8F0"/>
                </a:solidFill>
              </a:defRPr>
            </a:pPr>
            <a:r>
              <a:t>• If the user has no key, or the AI quota is exhausted, the system DOES NOT fail.</a:t>
            </a:r>
          </a:p>
          <a:p>
            <a:pPr>
              <a:spcAft>
                <a:spcPts val="1400"/>
              </a:spcAft>
              <a:defRPr sz="1150">
                <a:solidFill>
                  <a:srgbClr val="E2E8F0"/>
                </a:solidFill>
              </a:defRPr>
            </a:pPr>
            <a:r>
              <a:t>• Transparent fallback to deterministic rule engine in under 5 milliseconds.</a:t>
            </a:r>
          </a:p>
          <a:p>
            <a:pPr>
              <a:spcAft>
                <a:spcPts val="1400"/>
              </a:spcAft>
              <a:defRPr sz="1150">
                <a:solidFill>
                  <a:srgbClr val="E2E8F0"/>
                </a:solidFill>
              </a:defRPr>
            </a:pPr>
            <a:r>
              <a:t>• Set-intersection math ensures accurate skill identification even offline.</a:t>
            </a:r>
          </a:p>
          <a:p>
            <a:pPr>
              <a:spcAft>
                <a:spcPts val="1400"/>
              </a:spcAft>
              <a:defRPr sz="1150">
                <a:solidFill>
                  <a:srgbClr val="E2E8F0"/>
                </a:solidFill>
              </a:defRPr>
            </a:pPr>
            <a:r>
              <a:t>• Honest transparency: result contains is_ai_powered: false indicator.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FRONTEND ARCHITECTURE &amp; UX EXCELLENCE</a:t>
            </a:r>
          </a:p>
          <a:p>
            <a:pPr>
              <a:defRPr sz="1200">
                <a:solidFill>
                  <a:srgbClr val="38BDF8"/>
                </a:solidFill>
                <a:latin typeface="Calibri"/>
              </a:defRPr>
            </a:pPr>
            <a:r>
              <a:t>React 19 Single Page Application with GPU-Accelerated Nebula Glassmorphism</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Harshvardhan Sisodiya</a:t>
            </a:r>
          </a:p>
          <a:p>
            <a:pPr algn="ctr">
              <a:defRPr sz="1000">
                <a:solidFill>
                  <a:srgbClr val="38BDF8"/>
                </a:solidFill>
                <a:latin typeface="Calibri"/>
              </a:defRPr>
            </a:pPr>
            <a:r>
              <a:t>Frontend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10 of 18</a:t>
            </a:r>
          </a:p>
        </p:txBody>
      </p:sp>
      <p:sp>
        <p:nvSpPr>
          <p:cNvPr id="8" name="Rounded Rectangle 7"/>
          <p:cNvSpPr/>
          <p:nvPr/>
        </p:nvSpPr>
        <p:spPr>
          <a:xfrm>
            <a:off x="548640" y="1280160"/>
            <a:ext cx="53035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4937760" cy="365760"/>
          </a:xfrm>
          <a:prstGeom prst="rect">
            <a:avLst/>
          </a:prstGeom>
          <a:noFill/>
        </p:spPr>
        <p:txBody>
          <a:bodyPr wrap="square" lIns="0" tIns="0" rIns="0" bIns="0">
            <a:spAutoFit/>
          </a:bodyPr>
          <a:lstStyle/>
          <a:p>
            <a:pPr>
              <a:defRPr b="1" sz="1400">
                <a:solidFill>
                  <a:srgbClr val="38BDF8"/>
                </a:solidFill>
                <a:latin typeface="Calibri"/>
              </a:defRPr>
            </a:pPr>
            <a:r>
              <a:t>🎨 Frontend Design Highlights</a:t>
            </a:r>
          </a:p>
        </p:txBody>
      </p:sp>
      <p:sp>
        <p:nvSpPr>
          <p:cNvPr id="10" name="TextBox 9"/>
          <p:cNvSpPr txBox="1"/>
          <p:nvPr/>
        </p:nvSpPr>
        <p:spPr>
          <a:xfrm>
            <a:off x="777240" y="1920240"/>
            <a:ext cx="4846320" cy="4114800"/>
          </a:xfrm>
          <a:prstGeom prst="rect">
            <a:avLst/>
          </a:prstGeom>
          <a:noFill/>
        </p:spPr>
        <p:txBody>
          <a:bodyPr wrap="square">
            <a:spAutoFit/>
          </a:bodyPr>
          <a:lstStyle/>
          <a:p/>
          <a:p>
            <a:pPr>
              <a:defRPr b="1" sz="1100">
                <a:solidFill>
                  <a:srgbClr val="FFFFFF"/>
                </a:solidFill>
              </a:defRPr>
            </a:pPr>
            <a:r>
              <a:t>React 19 + Vite 6 Architecture</a:t>
            </a:r>
          </a:p>
          <a:p>
            <a:pPr>
              <a:spcAft>
                <a:spcPts val="800"/>
              </a:spcAft>
              <a:defRPr sz="950">
                <a:solidFill>
                  <a:srgbClr val="E2E8F0"/>
                </a:solidFill>
              </a:defRPr>
            </a:pPr>
            <a:r>
              <a:t>Ultra-fast single page application. Modular component hierarchy with custom hooks for state and session storage.</a:t>
            </a:r>
          </a:p>
          <a:p>
            <a:pPr>
              <a:defRPr b="1" sz="1100">
                <a:solidFill>
                  <a:srgbClr val="FFFFFF"/>
                </a:solidFill>
              </a:defRPr>
            </a:pPr>
            <a:r>
              <a:t>Nebula Aurora Glassmorphism</a:t>
            </a:r>
          </a:p>
          <a:p>
            <a:pPr>
              <a:spcAft>
                <a:spcPts val="800"/>
              </a:spcAft>
              <a:defRPr sz="950">
                <a:solidFill>
                  <a:srgbClr val="E2E8F0"/>
                </a:solidFill>
              </a:defRPr>
            </a:pPr>
            <a:r>
              <a:t>Bespoke CSS gradient mesh with dark-mode elegance. Subtle backdrop blurs and fluid borders without heavy CSS frameworks.</a:t>
            </a:r>
          </a:p>
          <a:p>
            <a:pPr>
              <a:defRPr b="1" sz="1100">
                <a:solidFill>
                  <a:srgbClr val="FFFFFF"/>
                </a:solidFill>
              </a:defRPr>
            </a:pPr>
            <a:r>
              <a:t>180px SVG Radial Match Gauge</a:t>
            </a:r>
          </a:p>
          <a:p>
            <a:pPr>
              <a:spcAft>
                <a:spcPts val="800"/>
              </a:spcAft>
              <a:defRPr sz="950">
                <a:solidFill>
                  <a:srgbClr val="E2E8F0"/>
                </a:solidFill>
              </a:defRPr>
            </a:pPr>
            <a:r>
              <a:t>Calculates match percentage with animated SVG stroke-dashoffset physics and count-up telemetry synchronized via requestAnimationFrame.</a:t>
            </a:r>
          </a:p>
          <a:p>
            <a:pPr>
              <a:defRPr b="1" sz="1100">
                <a:solidFill>
                  <a:srgbClr val="FFFFFF"/>
                </a:solidFill>
              </a:defRPr>
            </a:pPr>
            <a:r>
              <a:t>Bento Grid Responsive Layout</a:t>
            </a:r>
          </a:p>
          <a:p>
            <a:pPr>
              <a:spcAft>
                <a:spcPts val="800"/>
              </a:spcAft>
              <a:defRPr sz="950">
                <a:solidFill>
                  <a:srgbClr val="E2E8F0"/>
                </a:solidFill>
              </a:defRPr>
            </a:pPr>
            <a:r>
              <a:t>Adaptive grid that organizes match score, skill tags, ATS metrics, and strengths/weaknesses seamlessly across 4K, laptop, and mobile screens.</a:t>
            </a:r>
          </a:p>
          <a:p>
            <a:pPr>
              <a:defRPr b="1" sz="1100">
                <a:solidFill>
                  <a:srgbClr val="FFFFFF"/>
                </a:solidFill>
              </a:defRPr>
            </a:pPr>
            <a:r>
              <a:t>Silent Server Warmup</a:t>
            </a:r>
          </a:p>
          <a:p>
            <a:pPr>
              <a:spcAft>
                <a:spcPts val="800"/>
              </a:spcAft>
              <a:defRPr sz="950">
                <a:solidFill>
                  <a:srgbClr val="E2E8F0"/>
                </a:solidFill>
              </a:defRPr>
            </a:pPr>
            <a:r>
              <a:t>Automatically pings the Render backend on page load to eliminate free-tier spin-up delay before the user uploads their resume.</a:t>
            </a:r>
          </a:p>
        </p:txBody>
      </p:sp>
      <p:pic>
        <p:nvPicPr>
          <p:cNvPr id="11" name="Picture 10" descr="dashboard.jpg"/>
          <p:cNvPicPr>
            <a:picLocks noChangeAspect="1"/>
          </p:cNvPicPr>
          <p:nvPr/>
        </p:nvPicPr>
        <p:blipFill>
          <a:blip r:embed="rId2"/>
          <a:stretch>
            <a:fillRect/>
          </a:stretch>
        </p:blipFill>
        <p:spPr>
          <a:xfrm>
            <a:off x="6217920" y="1280160"/>
            <a:ext cx="5394960" cy="49377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TESTING STRATEGY &amp; SECURITY HARDENING</a:t>
            </a:r>
          </a:p>
          <a:p>
            <a:pPr>
              <a:defRPr sz="1200">
                <a:solidFill>
                  <a:srgbClr val="38BDF8"/>
                </a:solidFill>
                <a:latin typeface="Calibri"/>
              </a:defRPr>
            </a:pPr>
            <a:r>
              <a:t>92/92 Passing Automated Tests across 13 Modules &amp; OWASP Compliance</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Vishal Patel</a:t>
            </a:r>
          </a:p>
          <a:p>
            <a:pPr algn="ctr">
              <a:defRPr sz="1000">
                <a:solidFill>
                  <a:srgbClr val="38BDF8"/>
                </a:solidFill>
                <a:latin typeface="Calibri"/>
              </a:defRPr>
            </a:pPr>
            <a:r>
              <a:t>QA Lead &amp; Security</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11 of 18</a:t>
            </a:r>
          </a:p>
        </p:txBody>
      </p:sp>
      <p:sp>
        <p:nvSpPr>
          <p:cNvPr id="8" name="Rounded Rectangle 7"/>
          <p:cNvSpPr/>
          <p:nvPr/>
        </p:nvSpPr>
        <p:spPr>
          <a:xfrm>
            <a:off x="548640" y="1280160"/>
            <a:ext cx="53035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4937760" cy="365760"/>
          </a:xfrm>
          <a:prstGeom prst="rect">
            <a:avLst/>
          </a:prstGeom>
          <a:noFill/>
        </p:spPr>
        <p:txBody>
          <a:bodyPr wrap="square" lIns="0" tIns="0" rIns="0" bIns="0">
            <a:spAutoFit/>
          </a:bodyPr>
          <a:lstStyle/>
          <a:p>
            <a:pPr>
              <a:defRPr b="1" sz="1400">
                <a:solidFill>
                  <a:srgbClr val="38BDF8"/>
                </a:solidFill>
                <a:latin typeface="Calibri"/>
              </a:defRPr>
            </a:pPr>
            <a:r>
              <a:t>🧪 Automated Test Coverage (92 Tests)</a:t>
            </a:r>
          </a:p>
        </p:txBody>
      </p:sp>
      <p:sp>
        <p:nvSpPr>
          <p:cNvPr id="10" name="TextBox 9"/>
          <p:cNvSpPr txBox="1"/>
          <p:nvPr/>
        </p:nvSpPr>
        <p:spPr>
          <a:xfrm>
            <a:off x="777240" y="1920240"/>
            <a:ext cx="4846320" cy="4114800"/>
          </a:xfrm>
          <a:prstGeom prst="rect">
            <a:avLst/>
          </a:prstGeom>
          <a:noFill/>
        </p:spPr>
        <p:txBody>
          <a:bodyPr wrap="square">
            <a:spAutoFit/>
          </a:bodyPr>
          <a:lstStyle/>
          <a:p/>
          <a:p>
            <a:pPr>
              <a:defRPr b="1" sz="1050">
                <a:solidFill>
                  <a:srgbClr val="FFFFFF"/>
                </a:solidFill>
              </a:defRPr>
            </a:pPr>
            <a:r>
              <a:t>✔ Multi-Provider AI Service (9 tests)</a:t>
            </a:r>
          </a:p>
          <a:p>
            <a:pPr>
              <a:spcAft>
                <a:spcPts val="500"/>
              </a:spcAft>
              <a:defRPr sz="900">
                <a:solidFill>
                  <a:srgbClr val="E2E8F0"/>
                </a:solidFill>
              </a:defRPr>
            </a:pPr>
            <a:r>
              <a:t>Validates Gemini 2.5/3.6, GPT-4o, Claude API keys, retry logic, and fallback routines.</a:t>
            </a:r>
          </a:p>
          <a:p>
            <a:pPr>
              <a:defRPr b="1" sz="1050">
                <a:solidFill>
                  <a:srgbClr val="FFFFFF"/>
                </a:solidFill>
              </a:defRPr>
            </a:pPr>
            <a:r>
              <a:t>✔ Analysis Routing &amp; Fallback (4 tests)</a:t>
            </a:r>
          </a:p>
          <a:p>
            <a:pPr>
              <a:spcAft>
                <a:spcPts val="500"/>
              </a:spcAft>
              <a:defRPr sz="900">
                <a:solidFill>
                  <a:srgbClr val="E2E8F0"/>
                </a:solidFill>
              </a:defRPr>
            </a:pPr>
            <a:r>
              <a:t>Tests seamless switching between AI and rule engine under transient errors.</a:t>
            </a:r>
          </a:p>
          <a:p>
            <a:pPr>
              <a:defRPr b="1" sz="1050">
                <a:solidFill>
                  <a:srgbClr val="FFFFFF"/>
                </a:solidFill>
              </a:defRPr>
            </a:pPr>
            <a:r>
              <a:t>✔ ATS Heuristics &amp; Scoring (9 tests)</a:t>
            </a:r>
          </a:p>
          <a:p>
            <a:pPr>
              <a:spcAft>
                <a:spcPts val="500"/>
              </a:spcAft>
              <a:defRPr sz="900">
                <a:solidFill>
                  <a:srgbClr val="E2E8F0"/>
                </a:solidFill>
              </a:defRPr>
            </a:pPr>
            <a:r>
              <a:t>Verifies section detection, action verb counts, and quantification ratios.</a:t>
            </a:r>
          </a:p>
          <a:p>
            <a:pPr>
              <a:defRPr b="1" sz="1050">
                <a:solidFill>
                  <a:srgbClr val="FFFFFF"/>
                </a:solidFill>
              </a:defRPr>
            </a:pPr>
            <a:r>
              <a:t>✔ Skills Taxonomy &amp; Synonyms (9 tests)</a:t>
            </a:r>
          </a:p>
          <a:p>
            <a:pPr>
              <a:spcAft>
                <a:spcPts val="500"/>
              </a:spcAft>
              <a:defRPr sz="900">
                <a:solidFill>
                  <a:srgbClr val="E2E8F0"/>
                </a:solidFill>
              </a:defRPr>
            </a:pPr>
            <a:r>
              <a:t>Tests alias resolution across all 12 domains (e.g. k8s ➔ Kubernetes).</a:t>
            </a:r>
          </a:p>
          <a:p>
            <a:pPr>
              <a:defRPr b="1" sz="1050">
                <a:solidFill>
                  <a:srgbClr val="FFFFFF"/>
                </a:solidFill>
              </a:defRPr>
            </a:pPr>
            <a:r>
              <a:t>✔ Candidate Interview Generator (8 tests)</a:t>
            </a:r>
          </a:p>
          <a:p>
            <a:pPr>
              <a:spcAft>
                <a:spcPts val="500"/>
              </a:spcAft>
              <a:defRPr sz="900">
                <a:solidFill>
                  <a:srgbClr val="E2E8F0"/>
                </a:solidFill>
              </a:defRPr>
            </a:pPr>
            <a:r>
              <a:t>Ensures dynamic question synthesis based on candidate skill gaps.</a:t>
            </a:r>
          </a:p>
          <a:p>
            <a:pPr>
              <a:defRPr b="1" sz="1050">
                <a:solidFill>
                  <a:srgbClr val="FFFFFF"/>
                </a:solidFill>
              </a:defRPr>
            </a:pPr>
            <a:r>
              <a:t>✔ Executive Report Exporter (8 tests)</a:t>
            </a:r>
          </a:p>
          <a:p>
            <a:pPr>
              <a:spcAft>
                <a:spcPts val="500"/>
              </a:spcAft>
              <a:defRPr sz="900">
                <a:solidFill>
                  <a:srgbClr val="E2E8F0"/>
                </a:solidFill>
              </a:defRPr>
            </a:pPr>
            <a:r>
              <a:t>Validates PDF binary validity, 2-page pagination, and SHA-256 seal integrity.</a:t>
            </a:r>
          </a:p>
          <a:p>
            <a:pPr>
              <a:defRPr b="1" sz="1050">
                <a:solidFill>
                  <a:srgbClr val="FFFFFF"/>
                </a:solidFill>
              </a:defRPr>
            </a:pPr>
            <a:r>
              <a:t>✔ Security &amp; Sanitization (7 tests)</a:t>
            </a:r>
          </a:p>
          <a:p>
            <a:pPr>
              <a:spcAft>
                <a:spcPts val="500"/>
              </a:spcAft>
              <a:defRPr sz="900">
                <a:solidFill>
                  <a:srgbClr val="E2E8F0"/>
                </a:solidFill>
              </a:defRPr>
            </a:pPr>
            <a:r>
              <a:t>Tests XSS, SQLi, prompt injection defenses, and zero-disk memory buffers.</a:t>
            </a:r>
          </a:p>
        </p:txBody>
      </p:sp>
      <p:sp>
        <p:nvSpPr>
          <p:cNvPr id="11" name="Rounded Rectangle 10"/>
          <p:cNvSpPr/>
          <p:nvPr/>
        </p:nvSpPr>
        <p:spPr>
          <a:xfrm>
            <a:off x="6217920" y="1280160"/>
            <a:ext cx="539496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17320"/>
            <a:ext cx="5029200" cy="365760"/>
          </a:xfrm>
          <a:prstGeom prst="rect">
            <a:avLst/>
          </a:prstGeom>
          <a:noFill/>
        </p:spPr>
        <p:txBody>
          <a:bodyPr wrap="square" lIns="0" tIns="0" rIns="0" bIns="0">
            <a:spAutoFit/>
          </a:bodyPr>
          <a:lstStyle/>
          <a:p>
            <a:pPr>
              <a:defRPr b="1" sz="1400">
                <a:solidFill>
                  <a:srgbClr val="38BDF8"/>
                </a:solidFill>
                <a:latin typeface="Calibri"/>
              </a:defRPr>
            </a:pPr>
            <a:r>
              <a:t>🛡️ Security &amp; Performance Metrics</a:t>
            </a:r>
          </a:p>
        </p:txBody>
      </p:sp>
      <p:sp>
        <p:nvSpPr>
          <p:cNvPr id="13" name="TextBox 12"/>
          <p:cNvSpPr txBox="1"/>
          <p:nvPr/>
        </p:nvSpPr>
        <p:spPr>
          <a:xfrm>
            <a:off x="6446520" y="1920240"/>
            <a:ext cx="4937760" cy="4114800"/>
          </a:xfrm>
          <a:prstGeom prst="rect">
            <a:avLst/>
          </a:prstGeom>
          <a:noFill/>
        </p:spPr>
        <p:txBody>
          <a:bodyPr wrap="square">
            <a:spAutoFit/>
          </a:bodyPr>
          <a:lstStyle/>
          <a:p/>
          <a:p>
            <a:pPr>
              <a:defRPr b="1" sz="1100">
                <a:solidFill>
                  <a:srgbClr val="38BDF8"/>
                </a:solidFill>
              </a:defRPr>
            </a:pPr>
            <a:r>
              <a:t>🔒 Zero-Disk Persistence</a:t>
            </a:r>
          </a:p>
          <a:p>
            <a:pPr>
              <a:spcAft>
                <a:spcPts val="1000"/>
              </a:spcAft>
              <a:defRPr sz="950">
                <a:solidFill>
                  <a:srgbClr val="E2E8F0"/>
                </a:solidFill>
              </a:defRPr>
            </a:pPr>
            <a:r>
              <a:t>No candidate file, resume text, or API key is ever written to physical disk. Memory buffers are freed immediately after response completion.</a:t>
            </a:r>
          </a:p>
          <a:p>
            <a:pPr>
              <a:defRPr b="1" sz="1100">
                <a:solidFill>
                  <a:srgbClr val="38BDF8"/>
                </a:solidFill>
              </a:defRPr>
            </a:pPr>
            <a:r>
              <a:t>🔒 SHA-256 Digital Provenance</a:t>
            </a:r>
          </a:p>
          <a:p>
            <a:pPr>
              <a:spcAft>
                <a:spcPts val="1000"/>
              </a:spcAft>
              <a:defRPr sz="950">
                <a:solidFill>
                  <a:srgbClr val="E2E8F0"/>
                </a:solidFill>
              </a:defRPr>
            </a:pPr>
            <a:r>
              <a:t>Every generated report receives a deterministic 64-character cryptographic hash seal ensuring audit authenticity.</a:t>
            </a:r>
          </a:p>
          <a:p>
            <a:pPr>
              <a:defRPr b="1" sz="1100">
                <a:solidFill>
                  <a:srgbClr val="38BDF8"/>
                </a:solidFill>
              </a:defRPr>
            </a:pPr>
            <a:r>
              <a:t>🔒 OWASP Top 10 API Hardening</a:t>
            </a:r>
          </a:p>
          <a:p>
            <a:pPr>
              <a:spcAft>
                <a:spcPts val="1000"/>
              </a:spcAft>
              <a:defRPr sz="950">
                <a:solidFill>
                  <a:srgbClr val="E2E8F0"/>
                </a:solidFill>
              </a:defRPr>
            </a:pPr>
            <a:r>
              <a:t>Strict request validation, 5MB file upload cap, 15,000 character resume limits, and 5,000 character JD limits prevent denial-of-service.</a:t>
            </a:r>
          </a:p>
          <a:p>
            <a:pPr>
              <a:defRPr b="1" sz="1100">
                <a:solidFill>
                  <a:srgbClr val="38BDF8"/>
                </a:solidFill>
              </a:defRPr>
            </a:pPr>
            <a:r>
              <a:t>🔒 Hermetic Unit Testing</a:t>
            </a:r>
          </a:p>
          <a:p>
            <a:pPr>
              <a:spcAft>
                <a:spcPts val="1000"/>
              </a:spcAft>
              <a:defRPr sz="950">
                <a:solidFill>
                  <a:srgbClr val="E2E8F0"/>
                </a:solidFill>
              </a:defRPr>
            </a:pPr>
            <a:r>
              <a:t>All external AI calls are fully mocked in pytest. Tests run completely offline in 1.4 seconds with zero network dependency.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DOCUMENTATION &amp; ACADEMIC RIGOR</a:t>
            </a:r>
          </a:p>
          <a:p>
            <a:pPr>
              <a:defRPr sz="1200">
                <a:solidFill>
                  <a:srgbClr val="38BDF8"/>
                </a:solidFill>
                <a:latin typeface="Calibri"/>
              </a:defRPr>
            </a:pPr>
            <a:r>
              <a:t>10 Engineering Specifications, API References &amp; Ethical AI Audits</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Sujeet Kannaujiya</a:t>
            </a:r>
          </a:p>
          <a:p>
            <a:pPr algn="ctr">
              <a:defRPr sz="1000">
                <a:solidFill>
                  <a:srgbClr val="38BDF8"/>
                </a:solidFill>
                <a:latin typeface="Calibri"/>
              </a:defRPr>
            </a:pPr>
            <a:r>
              <a:t>Research &amp; Documentation</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12 of 18</a:t>
            </a:r>
          </a:p>
        </p:txBody>
      </p:sp>
      <p:sp>
        <p:nvSpPr>
          <p:cNvPr id="8" name="Rounded Rectangle 7"/>
          <p:cNvSpPr/>
          <p:nvPr/>
        </p:nvSpPr>
        <p:spPr>
          <a:xfrm>
            <a:off x="548640" y="1280160"/>
            <a:ext cx="5303520" cy="4937760"/>
          </a:xfrm>
          <a:prstGeom prst="roundRect">
            <a:avLst/>
          </a:prstGeom>
          <a:solidFill>
            <a:srgbClr val="151C2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4937760" cy="365760"/>
          </a:xfrm>
          <a:prstGeom prst="rect">
            <a:avLst/>
          </a:prstGeom>
          <a:noFill/>
        </p:spPr>
        <p:txBody>
          <a:bodyPr wrap="square" lIns="0" tIns="0" rIns="0" bIns="0">
            <a:spAutoFit/>
          </a:bodyPr>
          <a:lstStyle/>
          <a:p>
            <a:pPr>
              <a:defRPr b="1" sz="1400">
                <a:solidFill>
                  <a:srgbClr val="38BDF8"/>
                </a:solidFill>
                <a:latin typeface="Calibri"/>
              </a:defRPr>
            </a:pPr>
            <a:r>
              <a:t>📚 10 Core Documentation Deliverables</a:t>
            </a:r>
          </a:p>
        </p:txBody>
      </p:sp>
      <p:sp>
        <p:nvSpPr>
          <p:cNvPr id="10" name="TextBox 9"/>
          <p:cNvSpPr txBox="1"/>
          <p:nvPr/>
        </p:nvSpPr>
        <p:spPr>
          <a:xfrm>
            <a:off x="777240" y="1920240"/>
            <a:ext cx="4846320" cy="4114800"/>
          </a:xfrm>
          <a:prstGeom prst="rect">
            <a:avLst/>
          </a:prstGeom>
          <a:noFill/>
        </p:spPr>
        <p:txBody>
          <a:bodyPr wrap="square">
            <a:spAutoFit/>
          </a:bodyPr>
          <a:lstStyle/>
          <a:p/>
          <a:p>
            <a:pPr>
              <a:defRPr b="1" sz="1050">
                <a:solidFill>
                  <a:srgbClr val="FFFFFF"/>
                </a:solidFill>
              </a:defRPr>
            </a:pPr>
            <a:r>
              <a:t>📄 ARCHITECTURE.md</a:t>
            </a:r>
          </a:p>
          <a:p>
            <a:pPr>
              <a:spcAft>
                <a:spcPts val="400"/>
              </a:spcAft>
              <a:defRPr sz="900">
                <a:solidFill>
                  <a:srgbClr val="E2E8F0"/>
                </a:solidFill>
              </a:defRPr>
            </a:pPr>
            <a:r>
              <a:t>Complete architectural diagram, data flow pipelines, and microservice responsibilities.</a:t>
            </a:r>
          </a:p>
          <a:p>
            <a:pPr>
              <a:defRPr b="1" sz="1050">
                <a:solidFill>
                  <a:srgbClr val="FFFFFF"/>
                </a:solidFill>
              </a:defRPr>
            </a:pPr>
            <a:r>
              <a:t>📄 API_REFERENCE.md</a:t>
            </a:r>
          </a:p>
          <a:p>
            <a:pPr>
              <a:spcAft>
                <a:spcPts val="400"/>
              </a:spcAft>
              <a:defRPr sz="900">
                <a:solidFill>
                  <a:srgbClr val="E2E8F0"/>
                </a:solidFill>
              </a:defRPr>
            </a:pPr>
            <a:r>
              <a:t>Full REST API documentation covering all 7 endpoints, schemas, headers, and error codes.</a:t>
            </a:r>
          </a:p>
          <a:p>
            <a:pPr>
              <a:defRPr b="1" sz="1050">
                <a:solidFill>
                  <a:srgbClr val="FFFFFF"/>
                </a:solidFill>
              </a:defRPr>
            </a:pPr>
            <a:r>
              <a:t>📄 CAPSTONE_PROJECT_DOSSIER.md</a:t>
            </a:r>
          </a:p>
          <a:p>
            <a:pPr>
              <a:spcAft>
                <a:spcPts val="400"/>
              </a:spcAft>
              <a:defRPr sz="900">
                <a:solidFill>
                  <a:srgbClr val="E2E8F0"/>
                </a:solidFill>
              </a:defRPr>
            </a:pPr>
            <a:r>
              <a:t>Official BBD University capstone report, team deliverables, and academic metrics.</a:t>
            </a:r>
          </a:p>
          <a:p>
            <a:pPr>
              <a:defRPr b="1" sz="1050">
                <a:solidFill>
                  <a:srgbClr val="FFFFFF"/>
                </a:solidFill>
              </a:defRPr>
            </a:pPr>
            <a:r>
              <a:t>📄 ATS_PARSER_HEURISTICS_SPEC.md</a:t>
            </a:r>
          </a:p>
          <a:p>
            <a:pPr>
              <a:spcAft>
                <a:spcPts val="400"/>
              </a:spcAft>
              <a:defRPr sz="900">
                <a:solidFill>
                  <a:srgbClr val="E2E8F0"/>
                </a:solidFill>
              </a:defRPr>
            </a:pPr>
            <a:r>
              <a:t>Algorithmic specification for section integrity, action verbs, and quantification math.</a:t>
            </a:r>
          </a:p>
          <a:p>
            <a:pPr>
              <a:defRPr b="1" sz="1050">
                <a:solidFill>
                  <a:srgbClr val="FFFFFF"/>
                </a:solidFill>
              </a:defRPr>
            </a:pPr>
            <a:r>
              <a:t>📄 ETHICAL_AI_AND_BIAS_AUDIT.md</a:t>
            </a:r>
          </a:p>
          <a:p>
            <a:pPr>
              <a:spcAft>
                <a:spcPts val="400"/>
              </a:spcAft>
              <a:defRPr sz="900">
                <a:solidFill>
                  <a:srgbClr val="E2E8F0"/>
                </a:solidFill>
              </a:defRPr>
            </a:pPr>
            <a:r>
              <a:t>Fairness framework: stripping PII (gender, age, ethnicity) to prevent algorithmic hiring bias.</a:t>
            </a:r>
          </a:p>
          <a:p>
            <a:pPr>
              <a:defRPr b="1" sz="1050">
                <a:solidFill>
                  <a:srgbClr val="FFFFFF"/>
                </a:solidFill>
              </a:defRPr>
            </a:pPr>
            <a:r>
              <a:t>📄 RESEARCH_LLM_BENCHMARKS.md</a:t>
            </a:r>
          </a:p>
          <a:p>
            <a:pPr>
              <a:spcAft>
                <a:spcPts val="400"/>
              </a:spcAft>
              <a:defRPr sz="900">
                <a:solidFill>
                  <a:srgbClr val="E2E8F0"/>
                </a:solidFill>
              </a:defRPr>
            </a:pPr>
            <a:r>
              <a:t>Comparative study benchmarking Gemini, GPT-4o, and Claude on latency, cost, and accuracy.</a:t>
            </a:r>
          </a:p>
          <a:p>
            <a:pPr>
              <a:defRPr b="1" sz="1050">
                <a:solidFill>
                  <a:srgbClr val="FFFFFF"/>
                </a:solidFill>
              </a:defRPr>
            </a:pPr>
            <a:r>
              <a:t>📄 SECURITY_AUDIT_REPORT.md</a:t>
            </a:r>
          </a:p>
          <a:p>
            <a:pPr>
              <a:spcAft>
                <a:spcPts val="400"/>
              </a:spcAft>
              <a:defRPr sz="900">
                <a:solidFill>
                  <a:srgbClr val="E2E8F0"/>
                </a:solidFill>
              </a:defRPr>
            </a:pPr>
            <a:r>
              <a:t>OWASP API Top 10 compliance audit, vulnerability matrix, and hardening measures.</a:t>
            </a:r>
          </a:p>
        </p:txBody>
      </p:sp>
      <p:sp>
        <p:nvSpPr>
          <p:cNvPr id="11" name="Rounded Rectangle 10"/>
          <p:cNvSpPr/>
          <p:nvPr/>
        </p:nvSpPr>
        <p:spPr>
          <a:xfrm>
            <a:off x="6217920" y="1280160"/>
            <a:ext cx="539496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17320"/>
            <a:ext cx="5029200" cy="365760"/>
          </a:xfrm>
          <a:prstGeom prst="rect">
            <a:avLst/>
          </a:prstGeom>
          <a:noFill/>
        </p:spPr>
        <p:txBody>
          <a:bodyPr wrap="square" lIns="0" tIns="0" rIns="0" bIns="0">
            <a:spAutoFit/>
          </a:bodyPr>
          <a:lstStyle/>
          <a:p>
            <a:pPr>
              <a:defRPr b="1" sz="1400">
                <a:solidFill>
                  <a:srgbClr val="38BDF8"/>
                </a:solidFill>
                <a:latin typeface="Calibri"/>
              </a:defRPr>
            </a:pPr>
            <a:r>
              <a:t>🔍 Reproducibility &amp; Open Source Standards</a:t>
            </a:r>
          </a:p>
        </p:txBody>
      </p:sp>
      <p:sp>
        <p:nvSpPr>
          <p:cNvPr id="13" name="TextBox 12"/>
          <p:cNvSpPr txBox="1"/>
          <p:nvPr/>
        </p:nvSpPr>
        <p:spPr>
          <a:xfrm>
            <a:off x="6446520" y="1920240"/>
            <a:ext cx="4937760" cy="4114800"/>
          </a:xfrm>
          <a:prstGeom prst="rect">
            <a:avLst/>
          </a:prstGeom>
          <a:noFill/>
        </p:spPr>
        <p:txBody>
          <a:bodyPr wrap="square">
            <a:spAutoFit/>
          </a:bodyPr>
          <a:lstStyle/>
          <a:p/>
          <a:p>
            <a:pPr>
              <a:defRPr b="1" sz="1100">
                <a:solidFill>
                  <a:srgbClr val="38BDF8"/>
                </a:solidFill>
              </a:defRPr>
            </a:pPr>
            <a:r>
              <a:t>⭐ Full Developer Reproducibility</a:t>
            </a:r>
          </a:p>
          <a:p>
            <a:pPr>
              <a:spcAft>
                <a:spcPts val="800"/>
              </a:spcAft>
              <a:defRPr sz="950">
                <a:solidFill>
                  <a:srgbClr val="E2E8F0"/>
                </a:solidFill>
              </a:defRPr>
            </a:pPr>
            <a:r>
              <a:t>Any evaluator or engineer can clone the repository, run 3 simple terminal commands, and have the full platform running locally in under 60 seconds.</a:t>
            </a:r>
          </a:p>
          <a:p>
            <a:pPr>
              <a:defRPr b="1" sz="1100">
                <a:solidFill>
                  <a:srgbClr val="38BDF8"/>
                </a:solidFill>
              </a:defRPr>
            </a:pPr>
            <a:r>
              <a:t>⭐ Interactive OpenAPI / Swagger UI</a:t>
            </a:r>
          </a:p>
          <a:p>
            <a:pPr>
              <a:spcAft>
                <a:spcPts val="800"/>
              </a:spcAft>
              <a:defRPr sz="950">
                <a:solidFill>
                  <a:srgbClr val="E2E8F0"/>
                </a:solidFill>
              </a:defRPr>
            </a:pPr>
            <a:r>
              <a:t>Live interactive documentation accessible at /docs on our production backend, allowing examiners to test every endpoint directly in the browser.</a:t>
            </a:r>
          </a:p>
          <a:p>
            <a:pPr>
              <a:defRPr b="1" sz="1100">
                <a:solidFill>
                  <a:srgbClr val="38BDF8"/>
                </a:solidFill>
              </a:defRPr>
            </a:pPr>
            <a:r>
              <a:t>⭐ Ethical AI &amp; Bias Mitigation</a:t>
            </a:r>
          </a:p>
          <a:p>
            <a:pPr>
              <a:spcAft>
                <a:spcPts val="800"/>
              </a:spcAft>
              <a:defRPr sz="950">
                <a:solidFill>
                  <a:srgbClr val="E2E8F0"/>
                </a:solidFill>
              </a:defRPr>
            </a:pPr>
            <a:r>
              <a:t>We audited our AI prompts to ensure candidate scoring is strictly competence-based, ignoring names, demographic data, and formatting quirks.</a:t>
            </a:r>
          </a:p>
          <a:p>
            <a:pPr>
              <a:defRPr b="1" sz="1100">
                <a:solidFill>
                  <a:srgbClr val="38BDF8"/>
                </a:solidFill>
              </a:defRPr>
            </a:pPr>
            <a:r>
              <a:t>⭐ Standardized Code Guidelines</a:t>
            </a:r>
          </a:p>
          <a:p>
            <a:pPr>
              <a:spcAft>
                <a:spcPts val="800"/>
              </a:spcAft>
              <a:defRPr sz="950">
                <a:solidFill>
                  <a:srgbClr val="E2E8F0"/>
                </a:solidFill>
              </a:defRPr>
            </a:pPr>
            <a:r>
              <a:t>Clean directory organization, PEP 8 Python standards, ESLint configuration, and centralized environment variables.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LIVE APPLICATION DEMONSTRATION</a:t>
            </a:r>
          </a:p>
          <a:p>
            <a:pPr>
              <a:defRPr sz="1200">
                <a:solidFill>
                  <a:srgbClr val="38BDF8"/>
                </a:solidFill>
                <a:latin typeface="Calibri"/>
              </a:defRPr>
            </a:pPr>
            <a:r>
              <a:t>Real-Time Walkthrough of the User Flow, Heuristic Audit &amp; PDF Export</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Leading Live Demo</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13 of 18</a:t>
            </a:r>
          </a:p>
        </p:txBody>
      </p:sp>
      <p:sp>
        <p:nvSpPr>
          <p:cNvPr id="8" name="Rounded Rectangle 7"/>
          <p:cNvSpPr/>
          <p:nvPr/>
        </p:nvSpPr>
        <p:spPr>
          <a:xfrm>
            <a:off x="548640" y="1280160"/>
            <a:ext cx="34747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3108960" cy="365760"/>
          </a:xfrm>
          <a:prstGeom prst="rect">
            <a:avLst/>
          </a:prstGeom>
          <a:noFill/>
        </p:spPr>
        <p:txBody>
          <a:bodyPr wrap="square" lIns="0" tIns="0" rIns="0" bIns="0">
            <a:spAutoFit/>
          </a:bodyPr>
          <a:lstStyle/>
          <a:p>
            <a:pPr>
              <a:defRPr b="1" sz="1400">
                <a:solidFill>
                  <a:srgbClr val="38BDF8"/>
                </a:solidFill>
                <a:latin typeface="Calibri"/>
              </a:defRPr>
            </a:pPr>
            <a:r>
              <a:t>Step 1: Upload &amp; Input</a:t>
            </a:r>
          </a:p>
        </p:txBody>
      </p:sp>
      <p:sp>
        <p:nvSpPr>
          <p:cNvPr id="10" name="TextBox 9"/>
          <p:cNvSpPr txBox="1"/>
          <p:nvPr/>
        </p:nvSpPr>
        <p:spPr>
          <a:xfrm>
            <a:off x="731520" y="1920240"/>
            <a:ext cx="3108960" cy="4114800"/>
          </a:xfrm>
          <a:prstGeom prst="rect">
            <a:avLst/>
          </a:prstGeom>
          <a:noFill/>
        </p:spPr>
        <p:txBody>
          <a:bodyPr wrap="square" lIns="0" tIns="0" rIns="0" bIns="0">
            <a:spAutoFit/>
          </a:bodyPr>
          <a:lstStyle/>
          <a:p/>
          <a:p>
            <a:pPr>
              <a:spcAft>
                <a:spcPts val="1400"/>
              </a:spcAft>
              <a:defRPr sz="1150">
                <a:solidFill>
                  <a:srgbClr val="E2E8F0"/>
                </a:solidFill>
              </a:defRPr>
            </a:pPr>
            <a:r>
              <a:t>• Drag-and-drop resume PDF/DOCX.</a:t>
            </a:r>
          </a:p>
          <a:p>
            <a:pPr>
              <a:spcAft>
                <a:spcPts val="1400"/>
              </a:spcAft>
              <a:defRPr sz="1150">
                <a:solidFill>
                  <a:srgbClr val="E2E8F0"/>
                </a:solidFill>
              </a:defRPr>
            </a:pPr>
            <a:r>
              <a:t>• Paste target Job Description (e.g. AI Engineer).</a:t>
            </a:r>
          </a:p>
          <a:p>
            <a:pPr>
              <a:spcAft>
                <a:spcPts val="1400"/>
              </a:spcAft>
              <a:defRPr sz="1150">
                <a:solidFill>
                  <a:srgbClr val="E2E8F0"/>
                </a:solidFill>
              </a:defRPr>
            </a:pPr>
            <a:r>
              <a:t>• Optional: Provide multi-provider API key in BYOK vault.</a:t>
            </a:r>
          </a:p>
          <a:p>
            <a:pPr>
              <a:spcAft>
                <a:spcPts val="1400"/>
              </a:spcAft>
              <a:defRPr sz="1150">
                <a:solidFill>
                  <a:srgbClr val="E2E8F0"/>
                </a:solidFill>
              </a:defRPr>
            </a:pPr>
            <a:r>
              <a:t>• Instant file validation and in-memory text parsing.</a:t>
            </a:r>
          </a:p>
        </p:txBody>
      </p:sp>
      <p:sp>
        <p:nvSpPr>
          <p:cNvPr id="11" name="Rounded Rectangle 10"/>
          <p:cNvSpPr/>
          <p:nvPr/>
        </p:nvSpPr>
        <p:spPr>
          <a:xfrm>
            <a:off x="4297680" y="1280160"/>
            <a:ext cx="34747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17320"/>
            <a:ext cx="3108960" cy="365760"/>
          </a:xfrm>
          <a:prstGeom prst="rect">
            <a:avLst/>
          </a:prstGeom>
          <a:noFill/>
        </p:spPr>
        <p:txBody>
          <a:bodyPr wrap="square" lIns="0" tIns="0" rIns="0" bIns="0">
            <a:spAutoFit/>
          </a:bodyPr>
          <a:lstStyle/>
          <a:p>
            <a:pPr>
              <a:defRPr b="1" sz="1400">
                <a:solidFill>
                  <a:srgbClr val="38BDF8"/>
                </a:solidFill>
                <a:latin typeface="Calibri"/>
              </a:defRPr>
            </a:pPr>
            <a:r>
              <a:t>Step 2: Semantic Match &amp; ATS Audit</a:t>
            </a:r>
          </a:p>
        </p:txBody>
      </p:sp>
      <p:sp>
        <p:nvSpPr>
          <p:cNvPr id="13" name="TextBox 12"/>
          <p:cNvSpPr txBox="1"/>
          <p:nvPr/>
        </p:nvSpPr>
        <p:spPr>
          <a:xfrm>
            <a:off x="4480560" y="1920240"/>
            <a:ext cx="3108960" cy="4114800"/>
          </a:xfrm>
          <a:prstGeom prst="rect">
            <a:avLst/>
          </a:prstGeom>
          <a:noFill/>
        </p:spPr>
        <p:txBody>
          <a:bodyPr wrap="square" lIns="0" tIns="0" rIns="0" bIns="0">
            <a:spAutoFit/>
          </a:bodyPr>
          <a:lstStyle/>
          <a:p/>
          <a:p>
            <a:pPr>
              <a:spcAft>
                <a:spcPts val="1400"/>
              </a:spcAft>
              <a:defRPr sz="1150">
                <a:solidFill>
                  <a:srgbClr val="E2E8F0"/>
                </a:solidFill>
              </a:defRPr>
            </a:pPr>
            <a:r>
              <a:t>• 180px SVG Radial Gauge animates match score.</a:t>
            </a:r>
          </a:p>
          <a:p>
            <a:pPr>
              <a:spcAft>
                <a:spcPts val="1400"/>
              </a:spcAft>
              <a:defRPr sz="1150">
                <a:solidFill>
                  <a:srgbClr val="E2E8F0"/>
                </a:solidFill>
              </a:defRPr>
            </a:pPr>
            <a:r>
              <a:t>• Green tags: Verified Matched Skills.</a:t>
            </a:r>
          </a:p>
          <a:p>
            <a:pPr>
              <a:spcAft>
                <a:spcPts val="1400"/>
              </a:spcAft>
              <a:defRPr sz="1150">
                <a:solidFill>
                  <a:srgbClr val="E2E8F0"/>
                </a:solidFill>
              </a:defRPr>
            </a:pPr>
            <a:r>
              <a:t>• Red tags: Critical Missing Gaps (e.g., PyTorch).</a:t>
            </a:r>
          </a:p>
          <a:p>
            <a:pPr>
              <a:spcAft>
                <a:spcPts val="1400"/>
              </a:spcAft>
              <a:defRPr sz="1150">
                <a:solidFill>
                  <a:srgbClr val="E2E8F0"/>
                </a:solidFill>
              </a:defRPr>
            </a:pPr>
            <a:r>
              <a:t>• Composite ATS scores: Section Health, Action Verbs, Quantification.</a:t>
            </a:r>
          </a:p>
        </p:txBody>
      </p:sp>
      <p:sp>
        <p:nvSpPr>
          <p:cNvPr id="14" name="Rounded Rectangle 13"/>
          <p:cNvSpPr/>
          <p:nvPr/>
        </p:nvSpPr>
        <p:spPr>
          <a:xfrm>
            <a:off x="8046720" y="1280160"/>
            <a:ext cx="34747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17320"/>
            <a:ext cx="3108960" cy="365760"/>
          </a:xfrm>
          <a:prstGeom prst="rect">
            <a:avLst/>
          </a:prstGeom>
          <a:noFill/>
        </p:spPr>
        <p:txBody>
          <a:bodyPr wrap="square" lIns="0" tIns="0" rIns="0" bIns="0">
            <a:spAutoFit/>
          </a:bodyPr>
          <a:lstStyle/>
          <a:p>
            <a:pPr>
              <a:defRPr b="1" sz="1400">
                <a:solidFill>
                  <a:srgbClr val="38BDF8"/>
                </a:solidFill>
                <a:latin typeface="Calibri"/>
              </a:defRPr>
            </a:pPr>
            <a:r>
              <a:t>Step 3: Interview Kit &amp; PDF Export</a:t>
            </a:r>
          </a:p>
        </p:txBody>
      </p:sp>
      <p:sp>
        <p:nvSpPr>
          <p:cNvPr id="16" name="TextBox 15"/>
          <p:cNvSpPr txBox="1"/>
          <p:nvPr/>
        </p:nvSpPr>
        <p:spPr>
          <a:xfrm>
            <a:off x="8229600" y="1920240"/>
            <a:ext cx="3108960" cy="4114800"/>
          </a:xfrm>
          <a:prstGeom prst="rect">
            <a:avLst/>
          </a:prstGeom>
          <a:noFill/>
        </p:spPr>
        <p:txBody>
          <a:bodyPr wrap="square" lIns="0" tIns="0" rIns="0" bIns="0">
            <a:spAutoFit/>
          </a:bodyPr>
          <a:lstStyle/>
          <a:p/>
          <a:p>
            <a:pPr>
              <a:spcAft>
                <a:spcPts val="1400"/>
              </a:spcAft>
              <a:defRPr sz="1150">
                <a:solidFill>
                  <a:srgbClr val="E2E8F0"/>
                </a:solidFill>
              </a:defRPr>
            </a:pPr>
            <a:r>
              <a:t>• Dynamic Technical Interview Questions probing missing skills.</a:t>
            </a:r>
          </a:p>
          <a:p>
            <a:pPr>
              <a:spcAft>
                <a:spcPts val="1400"/>
              </a:spcAft>
              <a:defRPr sz="1150">
                <a:solidFill>
                  <a:srgbClr val="E2E8F0"/>
                </a:solidFill>
              </a:defRPr>
            </a:pPr>
            <a:r>
              <a:t>• Recruiter evaluation signals for each question.</a:t>
            </a:r>
          </a:p>
          <a:p>
            <a:pPr>
              <a:spcAft>
                <a:spcPts val="1400"/>
              </a:spcAft>
              <a:defRPr sz="1150">
                <a:solidFill>
                  <a:srgbClr val="E2E8F0"/>
                </a:solidFill>
              </a:defRPr>
            </a:pPr>
            <a:r>
              <a:t>• 1-Click download of 2-Page Executive PDF Report.</a:t>
            </a:r>
          </a:p>
          <a:p>
            <a:pPr>
              <a:spcAft>
                <a:spcPts val="1400"/>
              </a:spcAft>
              <a:defRPr sz="1150">
                <a:solidFill>
                  <a:srgbClr val="E2E8F0"/>
                </a:solidFill>
              </a:defRPr>
            </a:pPr>
            <a:r>
              <a:t>• Cryptographic SHA-256 seal guarantees document provenance.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MEASURED RESULTS &amp; SYSTEM METRICS</a:t>
            </a:r>
          </a:p>
          <a:p>
            <a:pPr>
              <a:defRPr sz="1200">
                <a:solidFill>
                  <a:srgbClr val="38BDF8"/>
                </a:solidFill>
                <a:latin typeface="Calibri"/>
              </a:defRPr>
            </a:pPr>
            <a:r>
              <a:t>Empirical Proof of High Performance, Accuracy, and Engineering Reliability</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&amp; Vishal</a:t>
            </a:r>
          </a:p>
          <a:p>
            <a:pPr algn="ctr">
              <a:defRPr sz="1000">
                <a:solidFill>
                  <a:srgbClr val="38BDF8"/>
                </a:solidFill>
                <a:latin typeface="Calibri"/>
              </a:defRPr>
            </a:pPr>
            <a:r>
              <a:t>Architect &amp; QA Lead</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14 of 18</a:t>
            </a:r>
          </a:p>
        </p:txBody>
      </p:sp>
      <p:sp>
        <p:nvSpPr>
          <p:cNvPr id="8" name="Rounded Rectangle 7"/>
          <p:cNvSpPr/>
          <p:nvPr/>
        </p:nvSpPr>
        <p:spPr>
          <a:xfrm>
            <a:off x="548640" y="1280160"/>
            <a:ext cx="3474720" cy="233172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3108960" cy="2057400"/>
          </a:xfrm>
          <a:prstGeom prst="rect">
            <a:avLst/>
          </a:prstGeom>
          <a:noFill/>
        </p:spPr>
        <p:txBody>
          <a:bodyPr wrap="square" lIns="0" tIns="0" rIns="0" bIns="0">
            <a:spAutoFit/>
          </a:bodyPr>
          <a:lstStyle/>
          <a:p>
            <a:pPr algn="ctr">
              <a:defRPr b="1" sz="2800">
                <a:solidFill>
                  <a:srgbClr val="10B981"/>
                </a:solidFill>
              </a:defRPr>
            </a:pPr>
            <a:r>
              <a:t>92 / 92</a:t>
            </a:r>
          </a:p>
          <a:p>
            <a:pPr algn="ctr">
              <a:spcAft>
                <a:spcPts val="600"/>
              </a:spcAft>
              <a:defRPr b="1" sz="1200">
                <a:solidFill>
                  <a:srgbClr val="FFFFFF"/>
                </a:solidFill>
              </a:defRPr>
            </a:pPr>
            <a:r>
              <a:t>Automated Tests Passing</a:t>
            </a:r>
          </a:p>
          <a:p>
            <a:pPr algn="ctr">
              <a:defRPr sz="1000">
                <a:solidFill>
                  <a:srgbClr val="94A3B8"/>
                </a:solidFill>
              </a:defRPr>
            </a:pPr>
            <a:r>
              <a:t>100% pass rate across 13 modules with zero regressions.</a:t>
            </a:r>
          </a:p>
        </p:txBody>
      </p:sp>
      <p:sp>
        <p:nvSpPr>
          <p:cNvPr id="10" name="Rounded Rectangle 9"/>
          <p:cNvSpPr/>
          <p:nvPr/>
        </p:nvSpPr>
        <p:spPr>
          <a:xfrm>
            <a:off x="4297680" y="1280160"/>
            <a:ext cx="3474720" cy="233172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417320"/>
            <a:ext cx="3108960" cy="2057400"/>
          </a:xfrm>
          <a:prstGeom prst="rect">
            <a:avLst/>
          </a:prstGeom>
          <a:noFill/>
        </p:spPr>
        <p:txBody>
          <a:bodyPr wrap="square" lIns="0" tIns="0" rIns="0" bIns="0">
            <a:spAutoFit/>
          </a:bodyPr>
          <a:lstStyle/>
          <a:p>
            <a:pPr algn="ctr">
              <a:defRPr b="1" sz="2800">
                <a:solidFill>
                  <a:srgbClr val="38BDF8"/>
                </a:solidFill>
              </a:defRPr>
            </a:pPr>
            <a:r>
              <a:t>&lt; 5 ms</a:t>
            </a:r>
          </a:p>
          <a:p>
            <a:pPr algn="ctr">
              <a:spcAft>
                <a:spcPts val="600"/>
              </a:spcAft>
              <a:defRPr b="1" sz="1200">
                <a:solidFill>
                  <a:srgbClr val="FFFFFF"/>
                </a:solidFill>
              </a:defRPr>
            </a:pPr>
            <a:r>
              <a:t>Deterministic Latency</a:t>
            </a:r>
          </a:p>
          <a:p>
            <a:pPr algn="ctr">
              <a:defRPr sz="1000">
                <a:solidFill>
                  <a:srgbClr val="94A3B8"/>
                </a:solidFill>
              </a:defRPr>
            </a:pPr>
            <a:r>
              <a:t>Sub-5ms response time for rule-based matching without external API.</a:t>
            </a:r>
          </a:p>
        </p:txBody>
      </p:sp>
      <p:sp>
        <p:nvSpPr>
          <p:cNvPr id="12" name="Rounded Rectangle 11"/>
          <p:cNvSpPr/>
          <p:nvPr/>
        </p:nvSpPr>
        <p:spPr>
          <a:xfrm>
            <a:off x="8046720" y="1280160"/>
            <a:ext cx="3474720" cy="233172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417320"/>
            <a:ext cx="3108960" cy="2057400"/>
          </a:xfrm>
          <a:prstGeom prst="rect">
            <a:avLst/>
          </a:prstGeom>
          <a:noFill/>
        </p:spPr>
        <p:txBody>
          <a:bodyPr wrap="square" lIns="0" tIns="0" rIns="0" bIns="0">
            <a:spAutoFit/>
          </a:bodyPr>
          <a:lstStyle/>
          <a:p>
            <a:pPr algn="ctr">
              <a:defRPr b="1" sz="2800">
                <a:solidFill>
                  <a:srgbClr val="A855F7"/>
                </a:solidFill>
              </a:defRPr>
            </a:pPr>
            <a:r>
              <a:t>~780 ms</a:t>
            </a:r>
          </a:p>
          <a:p>
            <a:pPr algn="ctr">
              <a:spcAft>
                <a:spcPts val="600"/>
              </a:spcAft>
              <a:defRPr b="1" sz="1200">
                <a:solidFill>
                  <a:srgbClr val="FFFFFF"/>
                </a:solidFill>
              </a:defRPr>
            </a:pPr>
            <a:r>
              <a:t>AI Cloud Latency</a:t>
            </a:r>
          </a:p>
          <a:p>
            <a:pPr algn="ctr">
              <a:defRPr sz="1000">
                <a:solidFill>
                  <a:srgbClr val="94A3B8"/>
                </a:solidFill>
              </a:defRPr>
            </a:pPr>
            <a:r>
              <a:t>Fast semantic analysis using Google Gemini 2.5/3.6 Flash.</a:t>
            </a:r>
          </a:p>
        </p:txBody>
      </p:sp>
      <p:sp>
        <p:nvSpPr>
          <p:cNvPr id="14" name="Rounded Rectangle 13"/>
          <p:cNvSpPr/>
          <p:nvPr/>
        </p:nvSpPr>
        <p:spPr>
          <a:xfrm>
            <a:off x="548640" y="3840480"/>
            <a:ext cx="3474720" cy="2331720"/>
          </a:xfrm>
          <a:prstGeom prst="roundRect">
            <a:avLst/>
          </a:prstGeom>
          <a:solidFill>
            <a:srgbClr val="151C2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77640"/>
            <a:ext cx="3108960" cy="2057400"/>
          </a:xfrm>
          <a:prstGeom prst="rect">
            <a:avLst/>
          </a:prstGeom>
          <a:noFill/>
        </p:spPr>
        <p:txBody>
          <a:bodyPr wrap="square" lIns="0" tIns="0" rIns="0" bIns="0">
            <a:spAutoFit/>
          </a:bodyPr>
          <a:lstStyle/>
          <a:p>
            <a:pPr algn="ctr">
              <a:defRPr b="1" sz="2800">
                <a:solidFill>
                  <a:srgbClr val="F59E0B"/>
                </a:solidFill>
              </a:defRPr>
            </a:pPr>
            <a:r>
              <a:t>440+</a:t>
            </a:r>
          </a:p>
          <a:p>
            <a:pPr algn="ctr">
              <a:spcAft>
                <a:spcPts val="600"/>
              </a:spcAft>
              <a:defRPr b="1" sz="1200">
                <a:solidFill>
                  <a:srgbClr val="FFFFFF"/>
                </a:solidFill>
              </a:defRPr>
            </a:pPr>
            <a:r>
              <a:t>Canonical Technologies</a:t>
            </a:r>
          </a:p>
          <a:p>
            <a:pPr algn="ctr">
              <a:defRPr sz="1000">
                <a:solidFill>
                  <a:srgbClr val="94A3B8"/>
                </a:solidFill>
              </a:defRPr>
            </a:pPr>
            <a:r>
              <a:t>Cataloged across 12 distinct software engineering domains.</a:t>
            </a:r>
          </a:p>
        </p:txBody>
      </p:sp>
      <p:sp>
        <p:nvSpPr>
          <p:cNvPr id="16" name="Rounded Rectangle 15"/>
          <p:cNvSpPr/>
          <p:nvPr/>
        </p:nvSpPr>
        <p:spPr>
          <a:xfrm>
            <a:off x="4297680" y="3840480"/>
            <a:ext cx="3474720" cy="233172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977640"/>
            <a:ext cx="3108960" cy="2057400"/>
          </a:xfrm>
          <a:prstGeom prst="rect">
            <a:avLst/>
          </a:prstGeom>
          <a:noFill/>
        </p:spPr>
        <p:txBody>
          <a:bodyPr wrap="square" lIns="0" tIns="0" rIns="0" bIns="0">
            <a:spAutoFit/>
          </a:bodyPr>
          <a:lstStyle/>
          <a:p>
            <a:pPr algn="ctr">
              <a:defRPr b="1" sz="2800">
                <a:solidFill>
                  <a:srgbClr val="38BDF8"/>
                </a:solidFill>
              </a:defRPr>
            </a:pPr>
            <a:r>
              <a:t>150+</a:t>
            </a:r>
          </a:p>
          <a:p>
            <a:pPr algn="ctr">
              <a:spcAft>
                <a:spcPts val="600"/>
              </a:spcAft>
              <a:defRPr b="1" sz="1200">
                <a:solidFill>
                  <a:srgbClr val="FFFFFF"/>
                </a:solidFill>
              </a:defRPr>
            </a:pPr>
            <a:r>
              <a:t>Action Verbs Indexed</a:t>
            </a:r>
          </a:p>
          <a:p>
            <a:pPr algn="ctr">
              <a:defRPr sz="1000">
                <a:solidFill>
                  <a:srgbClr val="94A3B8"/>
                </a:solidFill>
              </a:defRPr>
            </a:pPr>
            <a:r>
              <a:t>Categorized into leadership, technical, and operational verbs.</a:t>
            </a:r>
          </a:p>
        </p:txBody>
      </p:sp>
      <p:sp>
        <p:nvSpPr>
          <p:cNvPr id="18" name="Rounded Rectangle 17"/>
          <p:cNvSpPr/>
          <p:nvPr/>
        </p:nvSpPr>
        <p:spPr>
          <a:xfrm>
            <a:off x="8046720" y="3840480"/>
            <a:ext cx="3474720" cy="233172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3977640"/>
            <a:ext cx="3108960" cy="2057400"/>
          </a:xfrm>
          <a:prstGeom prst="rect">
            <a:avLst/>
          </a:prstGeom>
          <a:noFill/>
        </p:spPr>
        <p:txBody>
          <a:bodyPr wrap="square" lIns="0" tIns="0" rIns="0" bIns="0">
            <a:spAutoFit/>
          </a:bodyPr>
          <a:lstStyle/>
          <a:p>
            <a:pPr algn="ctr">
              <a:defRPr b="1" sz="2800">
                <a:solidFill>
                  <a:srgbClr val="10B981"/>
                </a:solidFill>
              </a:defRPr>
            </a:pPr>
            <a:r>
              <a:t>$0.00</a:t>
            </a:r>
          </a:p>
          <a:p>
            <a:pPr algn="ctr">
              <a:spcAft>
                <a:spcPts val="600"/>
              </a:spcAft>
              <a:defRPr b="1" sz="1200">
                <a:solidFill>
                  <a:srgbClr val="FFFFFF"/>
                </a:solidFill>
              </a:defRPr>
            </a:pPr>
            <a:r>
              <a:t>Monthly Hosting Cost</a:t>
            </a:r>
          </a:p>
          <a:p>
            <a:pPr algn="ctr">
              <a:defRPr sz="1000">
                <a:solidFill>
                  <a:srgbClr val="94A3B8"/>
                </a:solidFill>
              </a:defRPr>
            </a:pPr>
            <a:r>
              <a:t>100% free-tier architecture utilizing Render and Vercel Edge.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ENGINEERING CHALLENGES &amp; LESSONS LEARNED</a:t>
            </a:r>
          </a:p>
          <a:p>
            <a:pPr>
              <a:defRPr sz="1200">
                <a:solidFill>
                  <a:srgbClr val="38BDF8"/>
                </a:solidFill>
                <a:latin typeface="Calibri"/>
              </a:defRPr>
            </a:pPr>
            <a:r>
              <a:t>How Our Team Navigated Real Technical Roadblocks and Grew as Engineers</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All 4 Team Members</a:t>
            </a:r>
          </a:p>
          <a:p>
            <a:pPr algn="ctr">
              <a:defRPr sz="1000">
                <a:solidFill>
                  <a:srgbClr val="38BDF8"/>
                </a:solidFill>
                <a:latin typeface="Calibri"/>
              </a:defRPr>
            </a:pPr>
            <a:r>
              <a:t>Team Retrospective</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15 of 18</a:t>
            </a:r>
          </a:p>
        </p:txBody>
      </p:sp>
      <p:sp>
        <p:nvSpPr>
          <p:cNvPr id="8" name="Rounded Rectangle 7"/>
          <p:cNvSpPr/>
          <p:nvPr/>
        </p:nvSpPr>
        <p:spPr>
          <a:xfrm>
            <a:off x="548640" y="1280160"/>
            <a:ext cx="5303520" cy="233172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4937760" cy="365760"/>
          </a:xfrm>
          <a:prstGeom prst="rect">
            <a:avLst/>
          </a:prstGeom>
          <a:noFill/>
        </p:spPr>
        <p:txBody>
          <a:bodyPr wrap="square" lIns="0" tIns="0" rIns="0" bIns="0">
            <a:spAutoFit/>
          </a:bodyPr>
          <a:lstStyle/>
          <a:p>
            <a:pPr>
              <a:defRPr b="1" sz="1400">
                <a:solidFill>
                  <a:srgbClr val="38BDF8"/>
                </a:solidFill>
                <a:latin typeface="Calibri"/>
              </a:defRPr>
            </a:pPr>
            <a:r>
              <a:t>🛠️ Shivansh (Backend &amp; AI)</a:t>
            </a:r>
          </a:p>
        </p:txBody>
      </p:sp>
      <p:sp>
        <p:nvSpPr>
          <p:cNvPr id="10" name="TextBox 9"/>
          <p:cNvSpPr txBox="1"/>
          <p:nvPr/>
        </p:nvSpPr>
        <p:spPr>
          <a:xfrm>
            <a:off x="731520" y="1783080"/>
            <a:ext cx="4937760" cy="1737360"/>
          </a:xfrm>
          <a:prstGeom prst="rect">
            <a:avLst/>
          </a:prstGeom>
          <a:noFill/>
        </p:spPr>
        <p:txBody>
          <a:bodyPr wrap="square" lIns="0" tIns="0" rIns="0" bIns="0">
            <a:spAutoFit/>
          </a:bodyPr>
          <a:lstStyle/>
          <a:p>
            <a:pPr>
              <a:spcAft>
                <a:spcPts val="400"/>
              </a:spcAft>
              <a:defRPr b="1" sz="1100">
                <a:solidFill>
                  <a:srgbClr val="FFFFFF"/>
                </a:solidFill>
              </a:defRPr>
            </a:pPr>
            <a:r>
              <a:t>Challenge: AI API Schema Drift &amp; Rate Limits</a:t>
            </a:r>
          </a:p>
          <a:p>
            <a:pPr>
              <a:spcAft>
                <a:spcPts val="300"/>
              </a:spcAft>
              <a:defRPr sz="950">
                <a:solidFill>
                  <a:srgbClr val="E2E8F0"/>
                </a:solidFill>
              </a:defRPr>
            </a:pPr>
            <a:r>
              <a:t>• Challenge: Gemini API updates occasionally injected additionalProperties or returned unstructured markdown.</a:t>
            </a:r>
          </a:p>
          <a:p>
            <a:pPr>
              <a:spcAft>
                <a:spcPts val="300"/>
              </a:spcAft>
              <a:defRPr sz="950">
                <a:solidFill>
                  <a:srgbClr val="E2E8F0"/>
                </a:solidFill>
              </a:defRPr>
            </a:pPr>
            <a:r>
              <a:t>• Solution: Built a multi-stage regex JSON repair utility and Pydantic validator with automatic rule-based fallback.</a:t>
            </a:r>
          </a:p>
          <a:p>
            <a:pPr>
              <a:spcAft>
                <a:spcPts val="300"/>
              </a:spcAft>
              <a:defRPr sz="950">
                <a:solidFill>
                  <a:srgbClr val="E2E8F0"/>
                </a:solidFill>
              </a:defRPr>
            </a:pPr>
            <a:r>
              <a:t>• Lesson: Never trust raw LLM outputs in production without strict structural validation.</a:t>
            </a:r>
          </a:p>
        </p:txBody>
      </p:sp>
      <p:sp>
        <p:nvSpPr>
          <p:cNvPr id="11" name="Rounded Rectangle 10"/>
          <p:cNvSpPr/>
          <p:nvPr/>
        </p:nvSpPr>
        <p:spPr>
          <a:xfrm>
            <a:off x="6217920" y="1280160"/>
            <a:ext cx="5303520" cy="233172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17320"/>
            <a:ext cx="4937760" cy="365760"/>
          </a:xfrm>
          <a:prstGeom prst="rect">
            <a:avLst/>
          </a:prstGeom>
          <a:noFill/>
        </p:spPr>
        <p:txBody>
          <a:bodyPr wrap="square" lIns="0" tIns="0" rIns="0" bIns="0">
            <a:spAutoFit/>
          </a:bodyPr>
          <a:lstStyle/>
          <a:p>
            <a:pPr>
              <a:defRPr b="1" sz="1400">
                <a:solidFill>
                  <a:srgbClr val="38BDF8"/>
                </a:solidFill>
                <a:latin typeface="Calibri"/>
              </a:defRPr>
            </a:pPr>
            <a:r>
              <a:t>🛠️ Harshvardhan (Frontend)</a:t>
            </a:r>
          </a:p>
        </p:txBody>
      </p:sp>
      <p:sp>
        <p:nvSpPr>
          <p:cNvPr id="13" name="TextBox 12"/>
          <p:cNvSpPr txBox="1"/>
          <p:nvPr/>
        </p:nvSpPr>
        <p:spPr>
          <a:xfrm>
            <a:off x="6400800" y="1783080"/>
            <a:ext cx="4937760" cy="1737360"/>
          </a:xfrm>
          <a:prstGeom prst="rect">
            <a:avLst/>
          </a:prstGeom>
          <a:noFill/>
        </p:spPr>
        <p:txBody>
          <a:bodyPr wrap="square" lIns="0" tIns="0" rIns="0" bIns="0">
            <a:spAutoFit/>
          </a:bodyPr>
          <a:lstStyle/>
          <a:p>
            <a:pPr>
              <a:spcAft>
                <a:spcPts val="400"/>
              </a:spcAft>
              <a:defRPr b="1" sz="1100">
                <a:solidFill>
                  <a:srgbClr val="FFFFFF"/>
                </a:solidFill>
              </a:defRPr>
            </a:pPr>
            <a:r>
              <a:t>Challenge: High-Performance Animations &amp; Zero Lag</a:t>
            </a:r>
          </a:p>
          <a:p>
            <a:pPr>
              <a:spcAft>
                <a:spcPts val="300"/>
              </a:spcAft>
              <a:defRPr sz="950">
                <a:solidFill>
                  <a:srgbClr val="E2E8F0"/>
                </a:solidFill>
              </a:defRPr>
            </a:pPr>
            <a:r>
              <a:t>• Challenge: Heavy CSS animations caused jank and dropped frames on low-end laptops and mobile devices.</a:t>
            </a:r>
          </a:p>
          <a:p>
            <a:pPr>
              <a:spcAft>
                <a:spcPts val="300"/>
              </a:spcAft>
              <a:defRPr sz="950">
                <a:solidFill>
                  <a:srgbClr val="E2E8F0"/>
                </a:solidFill>
              </a:defRPr>
            </a:pPr>
            <a:r>
              <a:t>• Solution: Migrated all animations to GPU-composited CSS transforms and requestAnimationFrame physics.</a:t>
            </a:r>
          </a:p>
          <a:p>
            <a:pPr>
              <a:spcAft>
                <a:spcPts val="300"/>
              </a:spcAft>
              <a:defRPr sz="950">
                <a:solidFill>
                  <a:srgbClr val="E2E8F0"/>
                </a:solidFill>
              </a:defRPr>
            </a:pPr>
            <a:r>
              <a:t>• Lesson: Clean CSS architecture often outperforms heavy third-party animation libraries.</a:t>
            </a:r>
          </a:p>
        </p:txBody>
      </p:sp>
      <p:sp>
        <p:nvSpPr>
          <p:cNvPr id="14" name="Rounded Rectangle 13"/>
          <p:cNvSpPr/>
          <p:nvPr/>
        </p:nvSpPr>
        <p:spPr>
          <a:xfrm>
            <a:off x="548640" y="3840480"/>
            <a:ext cx="5303520" cy="233172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77640"/>
            <a:ext cx="4937760" cy="365760"/>
          </a:xfrm>
          <a:prstGeom prst="rect">
            <a:avLst/>
          </a:prstGeom>
          <a:noFill/>
        </p:spPr>
        <p:txBody>
          <a:bodyPr wrap="square" lIns="0" tIns="0" rIns="0" bIns="0">
            <a:spAutoFit/>
          </a:bodyPr>
          <a:lstStyle/>
          <a:p>
            <a:pPr>
              <a:defRPr b="1" sz="1400">
                <a:solidFill>
                  <a:srgbClr val="38BDF8"/>
                </a:solidFill>
                <a:latin typeface="Calibri"/>
              </a:defRPr>
            </a:pPr>
            <a:r>
              <a:t>🛠️ Vishal (Testing &amp; QA)</a:t>
            </a:r>
          </a:p>
        </p:txBody>
      </p:sp>
      <p:sp>
        <p:nvSpPr>
          <p:cNvPr id="16" name="TextBox 15"/>
          <p:cNvSpPr txBox="1"/>
          <p:nvPr/>
        </p:nvSpPr>
        <p:spPr>
          <a:xfrm>
            <a:off x="731520" y="4343400"/>
            <a:ext cx="4937760" cy="1737360"/>
          </a:xfrm>
          <a:prstGeom prst="rect">
            <a:avLst/>
          </a:prstGeom>
          <a:noFill/>
        </p:spPr>
        <p:txBody>
          <a:bodyPr wrap="square" lIns="0" tIns="0" rIns="0" bIns="0">
            <a:spAutoFit/>
          </a:bodyPr>
          <a:lstStyle/>
          <a:p>
            <a:pPr>
              <a:spcAft>
                <a:spcPts val="400"/>
              </a:spcAft>
              <a:defRPr b="1" sz="1100">
                <a:solidFill>
                  <a:srgbClr val="FFFFFF"/>
                </a:solidFill>
              </a:defRPr>
            </a:pPr>
            <a:r>
              <a:t>Challenge: Hermetic Unit Testing Without AI Costs</a:t>
            </a:r>
          </a:p>
          <a:p>
            <a:pPr>
              <a:spcAft>
                <a:spcPts val="300"/>
              </a:spcAft>
              <a:defRPr sz="950">
                <a:solidFill>
                  <a:srgbClr val="E2E8F0"/>
                </a:solidFill>
              </a:defRPr>
            </a:pPr>
            <a:r>
              <a:t>• Challenge: Running automated tests against live AI APIs exhausted rate quotas and made tests flaky.</a:t>
            </a:r>
          </a:p>
          <a:p>
            <a:pPr>
              <a:spcAft>
                <a:spcPts val="300"/>
              </a:spcAft>
              <a:defRPr sz="950">
                <a:solidFill>
                  <a:srgbClr val="E2E8F0"/>
                </a:solidFill>
              </a:defRPr>
            </a:pPr>
            <a:r>
              <a:t>• Solution: Implemented unittest.mock fixtures simulating all LLM success, error, and timeout states.</a:t>
            </a:r>
          </a:p>
          <a:p>
            <a:pPr>
              <a:spcAft>
                <a:spcPts val="300"/>
              </a:spcAft>
              <a:defRPr sz="950">
                <a:solidFill>
                  <a:srgbClr val="E2E8F0"/>
                </a:solidFill>
              </a:defRPr>
            </a:pPr>
            <a:r>
              <a:t>• Lesson: Hermetic offline unit testing guarantees rapid, reproducible CI/CD runs.</a:t>
            </a:r>
          </a:p>
        </p:txBody>
      </p:sp>
      <p:sp>
        <p:nvSpPr>
          <p:cNvPr id="17" name="Rounded Rectangle 16"/>
          <p:cNvSpPr/>
          <p:nvPr/>
        </p:nvSpPr>
        <p:spPr>
          <a:xfrm>
            <a:off x="6217920" y="3840480"/>
            <a:ext cx="5303520" cy="2331720"/>
          </a:xfrm>
          <a:prstGeom prst="roundRect">
            <a:avLst/>
          </a:prstGeom>
          <a:solidFill>
            <a:srgbClr val="151C2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977640"/>
            <a:ext cx="4937760" cy="365760"/>
          </a:xfrm>
          <a:prstGeom prst="rect">
            <a:avLst/>
          </a:prstGeom>
          <a:noFill/>
        </p:spPr>
        <p:txBody>
          <a:bodyPr wrap="square" lIns="0" tIns="0" rIns="0" bIns="0">
            <a:spAutoFit/>
          </a:bodyPr>
          <a:lstStyle/>
          <a:p>
            <a:pPr>
              <a:defRPr b="1" sz="1400">
                <a:solidFill>
                  <a:srgbClr val="38BDF8"/>
                </a:solidFill>
                <a:latin typeface="Calibri"/>
              </a:defRPr>
            </a:pPr>
            <a:r>
              <a:t>🛠️ Sujeet (Research &amp; Docs)</a:t>
            </a:r>
          </a:p>
        </p:txBody>
      </p:sp>
      <p:sp>
        <p:nvSpPr>
          <p:cNvPr id="19" name="TextBox 18"/>
          <p:cNvSpPr txBox="1"/>
          <p:nvPr/>
        </p:nvSpPr>
        <p:spPr>
          <a:xfrm>
            <a:off x="6400800" y="4343400"/>
            <a:ext cx="4937760" cy="1737360"/>
          </a:xfrm>
          <a:prstGeom prst="rect">
            <a:avLst/>
          </a:prstGeom>
          <a:noFill/>
        </p:spPr>
        <p:txBody>
          <a:bodyPr wrap="square" lIns="0" tIns="0" rIns="0" bIns="0">
            <a:spAutoFit/>
          </a:bodyPr>
          <a:lstStyle/>
          <a:p>
            <a:pPr>
              <a:spcAft>
                <a:spcPts val="400"/>
              </a:spcAft>
              <a:defRPr b="1" sz="1100">
                <a:solidFill>
                  <a:srgbClr val="FFFFFF"/>
                </a:solidFill>
              </a:defRPr>
            </a:pPr>
            <a:r>
              <a:t>Challenge: Algorithmic Fairness &amp; Bias Mitigation</a:t>
            </a:r>
          </a:p>
          <a:p>
            <a:pPr>
              <a:spcAft>
                <a:spcPts val="300"/>
              </a:spcAft>
              <a:defRPr sz="950">
                <a:solidFill>
                  <a:srgbClr val="E2E8F0"/>
                </a:solidFill>
              </a:defRPr>
            </a:pPr>
            <a:r>
              <a:t>• Challenge: Standard AI prompts could inadvertently favor certain demographic patterns in resumes.</a:t>
            </a:r>
          </a:p>
          <a:p>
            <a:pPr>
              <a:spcAft>
                <a:spcPts val="300"/>
              </a:spcAft>
              <a:defRPr sz="950">
                <a:solidFill>
                  <a:srgbClr val="E2E8F0"/>
                </a:solidFill>
              </a:defRPr>
            </a:pPr>
            <a:r>
              <a:t>• Solution: Implemented an automated PII stripping rubric in prompt design to focus purely on technical competencies.</a:t>
            </a:r>
          </a:p>
          <a:p>
            <a:pPr>
              <a:spcAft>
                <a:spcPts val="300"/>
              </a:spcAft>
              <a:defRPr sz="950">
                <a:solidFill>
                  <a:srgbClr val="E2E8F0"/>
                </a:solidFill>
              </a:defRPr>
            </a:pPr>
            <a:r>
              <a:t>• Lesson: Ethical AI governance must be engineered from day one, not treated as an afterthought.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FUTURE ROADMAP &amp; SCALABILITY</a:t>
            </a:r>
          </a:p>
          <a:p>
            <a:pPr>
              <a:defRPr sz="1200">
                <a:solidFill>
                  <a:srgbClr val="38BDF8"/>
                </a:solidFill>
                <a:latin typeface="Calibri"/>
              </a:defRPr>
            </a:pPr>
            <a:r>
              <a:t>Architectural Evolution: What We Plan to Build in Phase 2</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Shivansh Mishra</a:t>
            </a:r>
          </a:p>
          <a:p>
            <a:pPr algn="ctr">
              <a:defRPr sz="1000">
                <a:solidFill>
                  <a:srgbClr val="38BDF8"/>
                </a:solidFill>
                <a:latin typeface="Calibri"/>
              </a:defRPr>
            </a:pPr>
            <a:r>
              <a:t>Team Leader &amp; Architect</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16 of 18</a:t>
            </a:r>
          </a:p>
        </p:txBody>
      </p:sp>
      <p:sp>
        <p:nvSpPr>
          <p:cNvPr id="8" name="Rounded Rectangle 7"/>
          <p:cNvSpPr/>
          <p:nvPr/>
        </p:nvSpPr>
        <p:spPr>
          <a:xfrm>
            <a:off x="548640" y="1280160"/>
            <a:ext cx="34747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3108960" cy="365760"/>
          </a:xfrm>
          <a:prstGeom prst="rect">
            <a:avLst/>
          </a:prstGeom>
          <a:noFill/>
        </p:spPr>
        <p:txBody>
          <a:bodyPr wrap="square" lIns="0" tIns="0" rIns="0" bIns="0">
            <a:spAutoFit/>
          </a:bodyPr>
          <a:lstStyle/>
          <a:p>
            <a:pPr>
              <a:defRPr b="1" sz="1400">
                <a:solidFill>
                  <a:srgbClr val="38BDF8"/>
                </a:solidFill>
                <a:latin typeface="Calibri"/>
              </a:defRPr>
            </a:pPr>
            <a:r>
              <a:t>PHASE 2.1 (Near Term)</a:t>
            </a:r>
          </a:p>
        </p:txBody>
      </p:sp>
      <p:sp>
        <p:nvSpPr>
          <p:cNvPr id="10" name="TextBox 9"/>
          <p:cNvSpPr txBox="1"/>
          <p:nvPr/>
        </p:nvSpPr>
        <p:spPr>
          <a:xfrm>
            <a:off x="731520" y="1920240"/>
            <a:ext cx="3108960" cy="4114800"/>
          </a:xfrm>
          <a:prstGeom prst="rect">
            <a:avLst/>
          </a:prstGeom>
          <a:noFill/>
        </p:spPr>
        <p:txBody>
          <a:bodyPr wrap="square" lIns="0" tIns="0" rIns="0" bIns="0">
            <a:spAutoFit/>
          </a:bodyPr>
          <a:lstStyle/>
          <a:p>
            <a:pPr>
              <a:spcAft>
                <a:spcPts val="1400"/>
              </a:spcAft>
              <a:defRPr b="1" sz="1200">
                <a:solidFill>
                  <a:srgbClr val="FFFFFF"/>
                </a:solidFill>
              </a:defRPr>
            </a:pPr>
            <a:r>
              <a:t>Recruiter Multi-Candidate Portal</a:t>
            </a:r>
          </a:p>
          <a:p>
            <a:pPr>
              <a:spcAft>
                <a:spcPts val="1400"/>
              </a:spcAft>
              <a:defRPr sz="1150">
                <a:solidFill>
                  <a:srgbClr val="E2E8F0"/>
                </a:solidFill>
              </a:defRPr>
            </a:pPr>
            <a:r>
              <a:t>• Bulk resume processing: Rank hundreds of resumes simultaneously against a single job description.</a:t>
            </a:r>
          </a:p>
          <a:p>
            <a:pPr>
              <a:spcAft>
                <a:spcPts val="1400"/>
              </a:spcAft>
              <a:defRPr sz="1150">
                <a:solidFill>
                  <a:srgbClr val="E2E8F0"/>
                </a:solidFill>
              </a:defRPr>
            </a:pPr>
            <a:r>
              <a:t>• Interactive Candidate Comparison Matrix for hiring managers.</a:t>
            </a:r>
          </a:p>
          <a:p>
            <a:pPr>
              <a:spcAft>
                <a:spcPts val="1400"/>
              </a:spcAft>
              <a:defRPr sz="1150">
                <a:solidFill>
                  <a:srgbClr val="E2E8F0"/>
                </a:solidFill>
              </a:defRPr>
            </a:pPr>
            <a:r>
              <a:t>• Export comparative candidate ranking spreadsheets and charts.</a:t>
            </a:r>
          </a:p>
        </p:txBody>
      </p:sp>
      <p:sp>
        <p:nvSpPr>
          <p:cNvPr id="11" name="Rounded Rectangle 10"/>
          <p:cNvSpPr/>
          <p:nvPr/>
        </p:nvSpPr>
        <p:spPr>
          <a:xfrm>
            <a:off x="4297680" y="1280160"/>
            <a:ext cx="3474720" cy="4937760"/>
          </a:xfrm>
          <a:prstGeom prst="roundRect">
            <a:avLst/>
          </a:prstGeom>
          <a:solidFill>
            <a:srgbClr val="151C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17320"/>
            <a:ext cx="3108960" cy="365760"/>
          </a:xfrm>
          <a:prstGeom prst="rect">
            <a:avLst/>
          </a:prstGeom>
          <a:noFill/>
        </p:spPr>
        <p:txBody>
          <a:bodyPr wrap="square" lIns="0" tIns="0" rIns="0" bIns="0">
            <a:spAutoFit/>
          </a:bodyPr>
          <a:lstStyle/>
          <a:p>
            <a:pPr>
              <a:defRPr b="1" sz="1400">
                <a:solidFill>
                  <a:srgbClr val="38BDF8"/>
                </a:solidFill>
                <a:latin typeface="Calibri"/>
              </a:defRPr>
            </a:pPr>
            <a:r>
              <a:t>PHASE 2.2 (Mid Term)</a:t>
            </a:r>
          </a:p>
        </p:txBody>
      </p:sp>
      <p:sp>
        <p:nvSpPr>
          <p:cNvPr id="13" name="TextBox 12"/>
          <p:cNvSpPr txBox="1"/>
          <p:nvPr/>
        </p:nvSpPr>
        <p:spPr>
          <a:xfrm>
            <a:off x="4480560" y="1920240"/>
            <a:ext cx="3108960" cy="4114800"/>
          </a:xfrm>
          <a:prstGeom prst="rect">
            <a:avLst/>
          </a:prstGeom>
          <a:noFill/>
        </p:spPr>
        <p:txBody>
          <a:bodyPr wrap="square" lIns="0" tIns="0" rIns="0" bIns="0">
            <a:spAutoFit/>
          </a:bodyPr>
          <a:lstStyle/>
          <a:p>
            <a:pPr>
              <a:spcAft>
                <a:spcPts val="1400"/>
              </a:spcAft>
              <a:defRPr b="1" sz="1200">
                <a:solidFill>
                  <a:srgbClr val="FFFFFF"/>
                </a:solidFill>
              </a:defRPr>
            </a:pPr>
            <a:r>
              <a:t>Voice AI Mock Interview Simulations</a:t>
            </a:r>
          </a:p>
          <a:p>
            <a:pPr>
              <a:spcAft>
                <a:spcPts val="1400"/>
              </a:spcAft>
              <a:defRPr sz="1150">
                <a:solidFill>
                  <a:srgbClr val="E2E8F0"/>
                </a:solidFill>
              </a:defRPr>
            </a:pPr>
            <a:r>
              <a:t>• Convert our technical interview kit into an interactive voice agent.</a:t>
            </a:r>
          </a:p>
          <a:p>
            <a:pPr>
              <a:spcAft>
                <a:spcPts val="1400"/>
              </a:spcAft>
              <a:defRPr sz="1150">
                <a:solidFill>
                  <a:srgbClr val="E2E8F0"/>
                </a:solidFill>
              </a:defRPr>
            </a:pPr>
            <a:r>
              <a:t>• Real-time speech-to-text with AI evaluating answers on technical depth and communication.</a:t>
            </a:r>
          </a:p>
          <a:p>
            <a:pPr>
              <a:spcAft>
                <a:spcPts val="1400"/>
              </a:spcAft>
              <a:defRPr sz="1150">
                <a:solidFill>
                  <a:srgbClr val="E2E8F0"/>
                </a:solidFill>
              </a:defRPr>
            </a:pPr>
            <a:r>
              <a:t>• Instant scoring on candidate audio responses.</a:t>
            </a:r>
          </a:p>
        </p:txBody>
      </p:sp>
      <p:sp>
        <p:nvSpPr>
          <p:cNvPr id="14" name="Rounded Rectangle 13"/>
          <p:cNvSpPr/>
          <p:nvPr/>
        </p:nvSpPr>
        <p:spPr>
          <a:xfrm>
            <a:off x="8046720" y="1280160"/>
            <a:ext cx="347472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17320"/>
            <a:ext cx="3108960" cy="365760"/>
          </a:xfrm>
          <a:prstGeom prst="rect">
            <a:avLst/>
          </a:prstGeom>
          <a:noFill/>
        </p:spPr>
        <p:txBody>
          <a:bodyPr wrap="square" lIns="0" tIns="0" rIns="0" bIns="0">
            <a:spAutoFit/>
          </a:bodyPr>
          <a:lstStyle/>
          <a:p>
            <a:pPr>
              <a:defRPr b="1" sz="1400">
                <a:solidFill>
                  <a:srgbClr val="38BDF8"/>
                </a:solidFill>
                <a:latin typeface="Calibri"/>
              </a:defRPr>
            </a:pPr>
            <a:r>
              <a:t>PHASE 2.3 (Long Term)</a:t>
            </a:r>
          </a:p>
        </p:txBody>
      </p:sp>
      <p:sp>
        <p:nvSpPr>
          <p:cNvPr id="16" name="TextBox 15"/>
          <p:cNvSpPr txBox="1"/>
          <p:nvPr/>
        </p:nvSpPr>
        <p:spPr>
          <a:xfrm>
            <a:off x="8229600" y="1920240"/>
            <a:ext cx="3108960" cy="4114800"/>
          </a:xfrm>
          <a:prstGeom prst="rect">
            <a:avLst/>
          </a:prstGeom>
          <a:noFill/>
        </p:spPr>
        <p:txBody>
          <a:bodyPr wrap="square" lIns="0" tIns="0" rIns="0" bIns="0">
            <a:spAutoFit/>
          </a:bodyPr>
          <a:lstStyle/>
          <a:p>
            <a:pPr>
              <a:spcAft>
                <a:spcPts val="1400"/>
              </a:spcAft>
              <a:defRPr b="1" sz="1200">
                <a:solidFill>
                  <a:srgbClr val="FFFFFF"/>
                </a:solidFill>
              </a:defRPr>
            </a:pPr>
            <a:r>
              <a:t>Enterprise ATS Integrations</a:t>
            </a:r>
          </a:p>
          <a:p>
            <a:pPr>
              <a:spcAft>
                <a:spcPts val="1400"/>
              </a:spcAft>
              <a:defRPr sz="1150">
                <a:solidFill>
                  <a:srgbClr val="E2E8F0"/>
                </a:solidFill>
              </a:defRPr>
            </a:pPr>
            <a:r>
              <a:t>• Direct bi-directional API plugins for Greenhouse, Workday, and Lever.</a:t>
            </a:r>
          </a:p>
          <a:p>
            <a:pPr>
              <a:spcAft>
                <a:spcPts val="1400"/>
              </a:spcAft>
              <a:defRPr sz="1150">
                <a:solidFill>
                  <a:srgbClr val="E2E8F0"/>
                </a:solidFill>
              </a:defRPr>
            </a:pPr>
            <a:r>
              <a:t>• LinkedIn and GitHub profile auto-ingestion for multi-source candidate verification.</a:t>
            </a:r>
          </a:p>
          <a:p>
            <a:pPr>
              <a:spcAft>
                <a:spcPts val="1400"/>
              </a:spcAft>
              <a:defRPr sz="1150">
                <a:solidFill>
                  <a:srgbClr val="E2E8F0"/>
                </a:solidFill>
              </a:defRPr>
            </a:pPr>
            <a:r>
              <a:t>• Self-hosted open-source Docker container distribution.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51C2C"/>
          </a:solidFill>
          <a:ln w="12700">
            <a:solidFill>
              <a:srgbClr val="26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
            <a:ext cx="7772400" cy="548640"/>
          </a:xfrm>
          <a:prstGeom prst="rect">
            <a:avLst/>
          </a:prstGeom>
          <a:noFill/>
        </p:spPr>
        <p:txBody>
          <a:bodyPr wrap="square" lIns="0" tIns="0" rIns="0" bIns="0">
            <a:spAutoFit/>
          </a:bodyPr>
          <a:lstStyle/>
          <a:p>
            <a:pPr>
              <a:defRPr b="1" sz="2000">
                <a:solidFill>
                  <a:srgbClr val="FFFFFF"/>
                </a:solidFill>
                <a:latin typeface="Calibri"/>
              </a:defRPr>
            </a:pPr>
            <a:r>
              <a:t>APPENDIX &amp; DEEP TECHNICAL REFERENCE</a:t>
            </a:r>
          </a:p>
          <a:p>
            <a:pPr>
              <a:defRPr sz="1200">
                <a:solidFill>
                  <a:srgbClr val="38BDF8"/>
                </a:solidFill>
                <a:latin typeface="Calibri"/>
              </a:defRPr>
            </a:pPr>
            <a:r>
              <a:t>Microservice Endpoints, Cryptographic Provenance &amp; Schema Specifications</a:t>
            </a:r>
          </a:p>
        </p:txBody>
      </p:sp>
      <p:sp>
        <p:nvSpPr>
          <p:cNvPr id="6" name="Rounded Rectangle 5"/>
          <p:cNvSpPr/>
          <p:nvPr/>
        </p:nvSpPr>
        <p:spPr>
          <a:xfrm>
            <a:off x="8686800" y="182880"/>
            <a:ext cx="2926080" cy="685800"/>
          </a:xfrm>
          <a:prstGeom prst="roundRect">
            <a:avLst/>
          </a:prstGeom>
          <a:solidFill>
            <a:srgbClr val="0B0F1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200">
                <a:solidFill>
                  <a:srgbClr val="FFFFFF"/>
                </a:solidFill>
                <a:latin typeface="Calibri"/>
              </a:defRPr>
            </a:pPr>
            <a:r>
              <a:t>🎤 Presenter: Team Reference</a:t>
            </a:r>
          </a:p>
          <a:p>
            <a:pPr algn="ctr">
              <a:defRPr sz="1000">
                <a:solidFill>
                  <a:srgbClr val="38BDF8"/>
                </a:solidFill>
                <a:latin typeface="Calibri"/>
              </a:defRPr>
            </a:pPr>
            <a:r>
              <a:t>For Deep Technical Inquiries</a:t>
            </a:r>
          </a:p>
        </p:txBody>
      </p:sp>
      <p:sp>
        <p:nvSpPr>
          <p:cNvPr id="7" name="TextBox 6"/>
          <p:cNvSpPr txBox="1"/>
          <p:nvPr/>
        </p:nvSpPr>
        <p:spPr>
          <a:xfrm>
            <a:off x="548640" y="6492240"/>
            <a:ext cx="11094415" cy="274320"/>
          </a:xfrm>
          <a:prstGeom prst="rect">
            <a:avLst/>
          </a:prstGeom>
          <a:noFill/>
        </p:spPr>
        <p:txBody>
          <a:bodyPr wrap="none" lIns="0" tIns="0" rIns="0" bIns="0">
            <a:spAutoFit/>
          </a:bodyPr>
          <a:lstStyle/>
          <a:p>
            <a:pPr>
              <a:defRPr sz="1000">
                <a:solidFill>
                  <a:srgbClr val="94A3B8"/>
                </a:solidFill>
              </a:defRPr>
            </a:pPr>
            <a:r>
              <a:t>AI-Powered Resume Analyzer  •  BBD University Academic Capstone 2026</a:t>
            </a:r>
          </a:p>
          <a:p>
            <a:pPr algn="r">
              <a:defRPr sz="1000" b="1">
                <a:solidFill>
                  <a:srgbClr val="38BDF8"/>
                </a:solidFill>
              </a:defRPr>
            </a:pPr>
            <a:r>
              <a:t>Slide 17 of 18</a:t>
            </a:r>
          </a:p>
        </p:txBody>
      </p:sp>
      <p:sp>
        <p:nvSpPr>
          <p:cNvPr id="8" name="Rounded Rectangle 7"/>
          <p:cNvSpPr/>
          <p:nvPr/>
        </p:nvSpPr>
        <p:spPr>
          <a:xfrm>
            <a:off x="548640" y="1280160"/>
            <a:ext cx="5303520" cy="4937760"/>
          </a:xfrm>
          <a:prstGeom prst="roundRect">
            <a:avLst/>
          </a:prstGeom>
          <a:solidFill>
            <a:srgbClr val="151C2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4937760" cy="365760"/>
          </a:xfrm>
          <a:prstGeom prst="rect">
            <a:avLst/>
          </a:prstGeom>
          <a:noFill/>
        </p:spPr>
        <p:txBody>
          <a:bodyPr wrap="square" lIns="0" tIns="0" rIns="0" bIns="0">
            <a:spAutoFit/>
          </a:bodyPr>
          <a:lstStyle/>
          <a:p>
            <a:pPr>
              <a:defRPr b="1" sz="1400">
                <a:solidFill>
                  <a:srgbClr val="38BDF8"/>
                </a:solidFill>
                <a:latin typeface="Calibri"/>
              </a:defRPr>
            </a:pPr>
            <a:r>
              <a:t>📡 Production REST API Endpoints</a:t>
            </a:r>
          </a:p>
        </p:txBody>
      </p:sp>
      <p:sp>
        <p:nvSpPr>
          <p:cNvPr id="10" name="TextBox 9"/>
          <p:cNvSpPr txBox="1"/>
          <p:nvPr/>
        </p:nvSpPr>
        <p:spPr>
          <a:xfrm>
            <a:off x="777240" y="1920240"/>
            <a:ext cx="4846320" cy="4114800"/>
          </a:xfrm>
          <a:prstGeom prst="rect">
            <a:avLst/>
          </a:prstGeom>
          <a:noFill/>
        </p:spPr>
        <p:txBody>
          <a:bodyPr wrap="square">
            <a:spAutoFit/>
          </a:bodyPr>
          <a:lstStyle/>
          <a:p/>
          <a:p>
            <a:pPr>
              <a:defRPr b="1" sz="1000">
                <a:solidFill>
                  <a:srgbClr val="38BDF8"/>
                </a:solidFill>
                <a:latin typeface="Consolas"/>
              </a:defRPr>
            </a:pPr>
            <a:r>
              <a:t>GET /health</a:t>
            </a:r>
          </a:p>
          <a:p>
            <a:pPr>
              <a:spcAft>
                <a:spcPts val="400"/>
              </a:spcAft>
              <a:defRPr sz="900">
                <a:solidFill>
                  <a:srgbClr val="E2E8F0"/>
                </a:solidFill>
              </a:defRPr>
            </a:pPr>
            <a:r>
              <a:t>Health check &amp; cold-start container warmup trigger.</a:t>
            </a:r>
          </a:p>
          <a:p>
            <a:pPr>
              <a:defRPr b="1" sz="1000">
                <a:solidFill>
                  <a:srgbClr val="38BDF8"/>
                </a:solidFill>
                <a:latin typeface="Consolas"/>
              </a:defRPr>
            </a:pPr>
            <a:r>
              <a:t>POST /analyze</a:t>
            </a:r>
          </a:p>
          <a:p>
            <a:pPr>
              <a:spcAft>
                <a:spcPts val="400"/>
              </a:spcAft>
              <a:defRPr sz="900">
                <a:solidFill>
                  <a:srgbClr val="E2E8F0"/>
                </a:solidFill>
              </a:defRPr>
            </a:pPr>
            <a:r>
              <a:t>Multipart upload (PDF/DOCX + JD + BYOK Key) -&gt; Semantic score.</a:t>
            </a:r>
          </a:p>
          <a:p>
            <a:pPr>
              <a:defRPr b="1" sz="1000">
                <a:solidFill>
                  <a:srgbClr val="38BDF8"/>
                </a:solidFill>
                <a:latin typeface="Consolas"/>
              </a:defRPr>
            </a:pPr>
            <a:r>
              <a:t>GET /taxonomy/domains</a:t>
            </a:r>
          </a:p>
          <a:p>
            <a:pPr>
              <a:spcAft>
                <a:spcPts val="400"/>
              </a:spcAft>
              <a:defRPr sz="900">
                <a:solidFill>
                  <a:srgbClr val="E2E8F0"/>
                </a:solidFill>
              </a:defRPr>
            </a:pPr>
            <a:r>
              <a:t>Lists all 12 tech domains and 440+ canonical skill counts.</a:t>
            </a:r>
          </a:p>
          <a:p>
            <a:pPr>
              <a:defRPr b="1" sz="1000">
                <a:solidFill>
                  <a:srgbClr val="38BDF8"/>
                </a:solidFill>
                <a:latin typeface="Consolas"/>
              </a:defRPr>
            </a:pPr>
            <a:r>
              <a:t>POST /taxonomy/categorize</a:t>
            </a:r>
          </a:p>
          <a:p>
            <a:pPr>
              <a:spcAft>
                <a:spcPts val="400"/>
              </a:spcAft>
              <a:defRPr sz="900">
                <a:solidFill>
                  <a:srgbClr val="E2E8F0"/>
                </a:solidFill>
              </a:defRPr>
            </a:pPr>
            <a:r>
              <a:t>Resolves skill synonyms (e.g. k8s ➔ Kubernetes).</a:t>
            </a:r>
          </a:p>
          <a:p>
            <a:pPr>
              <a:defRPr b="1" sz="1000">
                <a:solidFill>
                  <a:srgbClr val="38BDF8"/>
                </a:solidFill>
                <a:latin typeface="Consolas"/>
              </a:defRPr>
            </a:pPr>
            <a:r>
              <a:t>POST /audit/ats</a:t>
            </a:r>
          </a:p>
          <a:p>
            <a:pPr>
              <a:spcAft>
                <a:spcPts val="400"/>
              </a:spcAft>
              <a:defRPr sz="900">
                <a:solidFill>
                  <a:srgbClr val="E2E8F0"/>
                </a:solidFill>
              </a:defRPr>
            </a:pPr>
            <a:r>
              <a:t>Heuristic ATS score, action verbs count, bullet quantification %.</a:t>
            </a:r>
          </a:p>
          <a:p>
            <a:pPr>
              <a:defRPr b="1" sz="1000">
                <a:solidFill>
                  <a:srgbClr val="38BDF8"/>
                </a:solidFill>
                <a:latin typeface="Consolas"/>
              </a:defRPr>
            </a:pPr>
            <a:r>
              <a:t>POST /interview/generate</a:t>
            </a:r>
          </a:p>
          <a:p>
            <a:pPr>
              <a:spcAft>
                <a:spcPts val="400"/>
              </a:spcAft>
              <a:defRPr sz="900">
                <a:solidFill>
                  <a:srgbClr val="E2E8F0"/>
                </a:solidFill>
              </a:defRPr>
            </a:pPr>
            <a:r>
              <a:t>Generates targeted interview questions for identified skill gaps.</a:t>
            </a:r>
          </a:p>
          <a:p>
            <a:pPr>
              <a:defRPr b="1" sz="1000">
                <a:solidFill>
                  <a:srgbClr val="38BDF8"/>
                </a:solidFill>
                <a:latin typeface="Consolas"/>
              </a:defRPr>
            </a:pPr>
            <a:r>
              <a:t>POST /export/pdf</a:t>
            </a:r>
          </a:p>
          <a:p>
            <a:pPr>
              <a:spcAft>
                <a:spcPts val="400"/>
              </a:spcAft>
              <a:defRPr sz="900">
                <a:solidFill>
                  <a:srgbClr val="E2E8F0"/>
                </a:solidFill>
              </a:defRPr>
            </a:pPr>
            <a:r>
              <a:t>Generates 2-page print-ready executive PDF with SHA-256 seal.</a:t>
            </a:r>
          </a:p>
        </p:txBody>
      </p:sp>
      <p:sp>
        <p:nvSpPr>
          <p:cNvPr id="11" name="Rounded Rectangle 10"/>
          <p:cNvSpPr/>
          <p:nvPr/>
        </p:nvSpPr>
        <p:spPr>
          <a:xfrm>
            <a:off x="6217920" y="1280160"/>
            <a:ext cx="5394960" cy="4937760"/>
          </a:xfrm>
          <a:prstGeom prst="roundRect">
            <a:avLst/>
          </a:prstGeom>
          <a:solidFill>
            <a:srgbClr val="151C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17320"/>
            <a:ext cx="5029200" cy="365760"/>
          </a:xfrm>
          <a:prstGeom prst="rect">
            <a:avLst/>
          </a:prstGeom>
          <a:noFill/>
        </p:spPr>
        <p:txBody>
          <a:bodyPr wrap="square" lIns="0" tIns="0" rIns="0" bIns="0">
            <a:spAutoFit/>
          </a:bodyPr>
          <a:lstStyle/>
          <a:p>
            <a:pPr>
              <a:defRPr b="1" sz="1400">
                <a:solidFill>
                  <a:srgbClr val="38BDF8"/>
                </a:solidFill>
                <a:latin typeface="Calibri"/>
              </a:defRPr>
            </a:pPr>
            <a:r>
              <a:t>🔐 SHA-256 Digital Provenance Mechanism</a:t>
            </a:r>
          </a:p>
        </p:txBody>
      </p:sp>
      <p:sp>
        <p:nvSpPr>
          <p:cNvPr id="13" name="TextBox 12"/>
          <p:cNvSpPr txBox="1"/>
          <p:nvPr/>
        </p:nvSpPr>
        <p:spPr>
          <a:xfrm>
            <a:off x="6446520" y="1920240"/>
            <a:ext cx="4937760" cy="4114800"/>
          </a:xfrm>
          <a:prstGeom prst="rect">
            <a:avLst/>
          </a:prstGeom>
          <a:noFill/>
        </p:spPr>
        <p:txBody>
          <a:bodyPr wrap="square">
            <a:spAutoFit/>
          </a:bodyPr>
          <a:lstStyle/>
          <a:p/>
          <a:p>
            <a:pPr>
              <a:defRPr b="1" sz="1050">
                <a:solidFill>
                  <a:srgbClr val="FFFFFF"/>
                </a:solidFill>
              </a:defRPr>
            </a:pPr>
            <a:r>
              <a:t>🔒 Deterministic Serialization:</a:t>
            </a:r>
          </a:p>
          <a:p>
            <a:pPr>
              <a:spcAft>
                <a:spcPts val="800"/>
              </a:spcAft>
              <a:defRPr sz="950">
                <a:solidFill>
                  <a:srgbClr val="E2E8F0"/>
                </a:solidFill>
              </a:defRPr>
            </a:pPr>
            <a:r>
              <a:t>Payload keys are canonicalized and sorted deterministically, omitting volatile timestamps, to guarantee identical hashes for identical audits.</a:t>
            </a:r>
          </a:p>
          <a:p>
            <a:pPr>
              <a:defRPr b="1" sz="1050">
                <a:solidFill>
                  <a:srgbClr val="FFFFFF"/>
                </a:solidFill>
              </a:defRPr>
            </a:pPr>
            <a:r>
              <a:t>🔒 Cryptographic Digest:</a:t>
            </a:r>
          </a:p>
          <a:p>
            <a:pPr>
              <a:spcAft>
                <a:spcPts val="800"/>
              </a:spcAft>
              <a:defRPr sz="950">
                <a:solidFill>
                  <a:srgbClr val="E2E8F0"/>
                </a:solidFill>
              </a:defRPr>
            </a:pPr>
            <a:r>
              <a:t>Uses standard hashlib.sha256(payload.encode('utf-8')).hexdigest() to create an unforgeable 64-character digital seal embedded directly in the PDF.</a:t>
            </a:r>
          </a:p>
          <a:p>
            <a:pPr>
              <a:defRPr b="1" sz="1050">
                <a:solidFill>
                  <a:srgbClr val="FFFFFF"/>
                </a:solidFill>
              </a:defRPr>
            </a:pPr>
            <a:r>
              <a:t>🔒 Academic Provenance Verification:</a:t>
            </a:r>
          </a:p>
          <a:p>
            <a:pPr>
              <a:spcAft>
                <a:spcPts val="800"/>
              </a:spcAft>
              <a:defRPr sz="950">
                <a:solidFill>
                  <a:srgbClr val="E2E8F0"/>
                </a:solidFill>
              </a:defRPr>
            </a:pPr>
            <a:r>
              <a:t>The seal certifies that the resume was audited by the AI-Powered Resume Analyzer Suite developed at BBD University.</a:t>
            </a:r>
          </a:p>
          <a:p>
            <a:pPr>
              <a:defRPr b="1" sz="1050">
                <a:solidFill>
                  <a:srgbClr val="FFFFFF"/>
                </a:solidFill>
              </a:defRPr>
            </a:pPr>
            <a:r>
              <a:t>🔒 Tamper-Proof Audit Trail:</a:t>
            </a:r>
          </a:p>
          <a:p>
            <a:pPr>
              <a:spcAft>
                <a:spcPts val="800"/>
              </a:spcAft>
              <a:defRPr sz="950">
                <a:solidFill>
                  <a:srgbClr val="E2E8F0"/>
                </a:solidFill>
              </a:defRPr>
            </a:pPr>
            <a:r>
              <a:t>Any alteration to candidate score or matched skills invalidates the verification hash instantly.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731520"/>
            <a:ext cx="9997135" cy="5394960"/>
          </a:xfrm>
          <a:prstGeom prst="roundRect">
            <a:avLst/>
          </a:prstGeom>
          <a:solidFill>
            <a:srgbClr val="151C2C"/>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097280"/>
            <a:ext cx="9418320" cy="4663440"/>
          </a:xfrm>
          <a:prstGeom prst="rect">
            <a:avLst/>
          </a:prstGeom>
          <a:noFill/>
        </p:spPr>
        <p:txBody>
          <a:bodyPr wrap="square">
            <a:spAutoFit/>
          </a:bodyPr>
          <a:lstStyle/>
          <a:p>
            <a:pPr algn="ctr">
              <a:spcAft>
                <a:spcPts val="600"/>
              </a:spcAft>
              <a:defRPr b="1" sz="2800">
                <a:solidFill>
                  <a:srgbClr val="FFFFFF"/>
                </a:solidFill>
              </a:defRPr>
            </a:pPr>
            <a:r>
              <a:t>Thank You, Respected Dean Sir &amp; Faculty!</a:t>
            </a:r>
          </a:p>
          <a:p>
            <a:pPr algn="ctr">
              <a:spcAft>
                <a:spcPts val="2400"/>
              </a:spcAft>
              <a:defRPr b="1" sz="1600">
                <a:solidFill>
                  <a:srgbClr val="38BDF8"/>
                </a:solidFill>
              </a:defRPr>
            </a:pPr>
            <a:r>
              <a:t>We are now open for your Questions, Feedback &amp; Evaluation</a:t>
            </a:r>
          </a:p>
          <a:p>
            <a:pPr algn="ctr">
              <a:spcAft>
                <a:spcPts val="600"/>
              </a:spcAft>
              <a:defRPr sz="1300">
                <a:solidFill>
                  <a:srgbClr val="E2E8F0"/>
                </a:solidFill>
              </a:defRPr>
            </a:pPr>
            <a:r>
              <a:t>🔗 Live Application: https://ai-powered-resume-analyzer-pi.vercel.app</a:t>
            </a:r>
          </a:p>
          <a:p>
            <a:pPr algn="ctr">
              <a:spcAft>
                <a:spcPts val="600"/>
              </a:spcAft>
              <a:defRPr sz="1300">
                <a:solidFill>
                  <a:srgbClr val="E2E8F0"/>
                </a:solidFill>
              </a:defRPr>
            </a:pPr>
            <a:r>
              <a:t>💻 GitHub Repository: https://github.com/Shivansh-mishraji/AI-Powered-Resume-Analyzer</a:t>
            </a:r>
          </a:p>
          <a:p>
            <a:pPr algn="ctr">
              <a:spcAft>
                <a:spcPts val="2400"/>
              </a:spcAft>
              <a:defRPr sz="1300">
                <a:solidFill>
                  <a:srgbClr val="E2E8F0"/>
                </a:solidFill>
              </a:defRPr>
            </a:pPr>
            <a:r>
              <a:t>⚡ Backend API Documentation: https://resume-analyzer-api.onrender.com/docs</a:t>
            </a:r>
          </a:p>
          <a:p>
            <a:pPr algn="ctr">
              <a:defRPr b="1" sz="1200">
                <a:solidFill>
                  <a:srgbClr val="10B981"/>
                </a:solidFill>
              </a:defRPr>
            </a:pPr>
            <a:r>
              <a:t>👑 Shivansh Mishra (Backend &amp; AI)  •  🎨 Harshvardhan Sisodiya (Frontend)  •  🛡️ Vishal Patel (QA)  •  📑 Sujeet Kannaujiya (Docs)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